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5400" b="1">
                <a:solidFill>
                  <a:srgbClr val="141B22"/>
                </a:solidFill>
                <a:latin typeface="Segoe UI"/>
              </a:rPr>
              <a:t>Light Code</a:t>
            </a:r>
          </a:p>
          <a:p>
            <a:pPr>
              <a:spcAft>
                <a:spcPts val="0"/>
              </a:spcAft>
            </a:pPr>
            <a:r>
              <a:rPr sz="2200" b="0">
                <a:solidFill>
                  <a:srgbClr val="5B6B7A"/>
                </a:solidFill>
                <a:latin typeface="Segoe UI"/>
              </a:rPr>
              <a:t>An agentic coding assistant built for working inside an organisation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4114800"/>
            <a:ext cx="2011680" cy="34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80644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B6B7A"/>
                </a:solidFill>
                <a:latin typeface="Segoe UI"/>
              </a:rPr>
              <a:t>What it does that other assistants don't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THE THESIS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141B22"/>
                </a:solidFill>
                <a:latin typeface="Segoe UI"/>
              </a:rPr>
              <a:t>Most assistants are built for a laptop and a public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371600" cy="34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Your gateway, not theirs.</a:t>
            </a:r>
            <a:r>
              <a:rPr sz="1700">
                <a:solidFill>
                  <a:srgbClr val="5B6B7A"/>
                </a:solidFill>
                <a:latin typeface="Segoe UI"/>
              </a:rPr>
              <a:t>  Mutual TLS, client certificates, corporate token endpoints.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Your models, in different seats.</a:t>
            </a:r>
            <a:r>
              <a:rPr sz="1700">
                <a:solidFill>
                  <a:srgbClr val="5B6B7A"/>
                </a:solidFill>
                <a:latin typeface="Segoe UI"/>
              </a:rPr>
              <a:t>  Several models on one team, each doing what it is best at.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Your libraries and conventions.</a:t>
            </a:r>
            <a:r>
              <a:rPr sz="1700">
                <a:solidFill>
                  <a:srgbClr val="5B6B7A"/>
                </a:solidFill>
                <a:latin typeface="Segoe UI"/>
              </a:rPr>
              <a:t>  Taught once, shared across the team, kept current.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Your spreadsheets and your mailbox.</a:t>
            </a:r>
            <a:r>
              <a:rPr sz="1700">
                <a:solidFill>
                  <a:srgbClr val="5B6B7A"/>
                </a:solidFill>
                <a:latin typeface="Segoe UI"/>
              </a:rPr>
              <a:t>  The application already open on your screen.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Nothing leaves the machine you didn't configure.</a:t>
            </a:r>
            <a:r>
              <a:rPr sz="1700">
                <a:solidFill>
                  <a:srgbClr val="5B6B7A"/>
                </a:solidFill>
                <a:latin typeface="Segoe UI"/>
              </a:rPr>
              <a:t>  No telemetry. No default endpoints.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B6B7A"/>
                </a:solidFill>
                <a:latin typeface="Segoe UI"/>
              </a:rPr>
              <a:t>Everything that follows comes from that one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CONNECTING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141B22"/>
                </a:solidFill>
                <a:latin typeface="Segoe UI"/>
              </a:rPr>
              <a:t>Auth that survives a corporate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371600" cy="34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Mutual TLS as a first-class option.</a:t>
            </a:r>
            <a:r>
              <a:rPr sz="1700">
                <a:solidFill>
                  <a:srgbClr val="5B6B7A"/>
                </a:solidFill>
                <a:latin typeface="Segoe UI"/>
              </a:rPr>
              <a:t>  PEM or PFX client certificates, passphrase in secure storage.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OAuth client-credentials over mTLS.</a:t>
            </a:r>
            <a:r>
              <a:rPr sz="1700">
                <a:solidFill>
                  <a:srgbClr val="5B6B7A"/>
                </a:solidFill>
                <a:latin typeface="Segoe UI"/>
              </a:rPr>
              <a:t>  Proactive refresh, single-flight, exactly one 401 retry.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A credential fetched by running your own program.</a:t>
            </a:r>
            <a:r>
              <a:rPr sz="1700">
                <a:solidFill>
                  <a:srgbClr val="5B6B7A"/>
                </a:solidFill>
                <a:latin typeface="Segoe UI"/>
              </a:rPr>
              <a:t>  Your vault, your rules, never on disk.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Certificates configured once, globally.</a:t>
            </a:r>
            <a:r>
              <a:rPr sz="1700">
                <a:solidFill>
                  <a:srgbClr val="5B6B7A"/>
                </a:solidFill>
                <a:latin typeface="Segoe UI"/>
              </a:rPr>
              <a:t>  One resolver for every connection, not four places to miss.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Test Connection names the step that failed.</a:t>
            </a:r>
            <a:r>
              <a:rPr sz="1700">
                <a:solidFill>
                  <a:srgbClr val="5B6B7A"/>
                </a:solidFill>
                <a:latin typeface="Segoe UI"/>
              </a:rPr>
              <a:t>  Certificates, token, or catalogue — each a different fix.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B6B7A"/>
                </a:solidFill>
                <a:latin typeface="Segoe UI"/>
              </a:rPr>
              <a:t>Most assistants offer an API key box. This is the difference between working on day one and not at 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THE AGENT TEAM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141B22"/>
                </a:solidFill>
                <a:latin typeface="Segoe UI"/>
              </a:rPr>
              <a:t>Several models, each in the seat it earns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371600" cy="34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Five built-in seats.</a:t>
            </a:r>
            <a:r>
              <a:rPr sz="1700">
                <a:solidFill>
                  <a:srgbClr val="5B6B7A"/>
                </a:solidFill>
                <a:latin typeface="Segoe UI"/>
              </a:rPr>
              <a:t>  Expert, programmer, reviewer, tester, librarian — plus roles you invent.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Each backed by a different model.</a:t>
            </a:r>
            <a:r>
              <a:rPr sz="1700">
                <a:solidFill>
                  <a:srgbClr val="5B6B7A"/>
                </a:solidFill>
                <a:latin typeface="Segoe UI"/>
              </a:rPr>
              <a:t>  Own system prompt, own thinking level, own tool and write permissions.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They argue.</a:t>
            </a:r>
            <a:r>
              <a:rPr sz="1700">
                <a:solidFill>
                  <a:srgbClr val="5B6B7A"/>
                </a:solidFill>
                <a:latin typeface="Segoe UI"/>
              </a:rPr>
              <a:t>  A review finding goes back to the programmer, which can push back and be right.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Address one directly.</a:t>
            </a:r>
            <a:r>
              <a:rPr sz="1700">
                <a:solidFill>
                  <a:srgbClr val="5B6B7A"/>
                </a:solidFill>
                <a:latin typeface="Segoe UI"/>
              </a:rPr>
              <a:t>  #reviewer, #librarian — ask the specialist you want.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Never the same model reviewing its own work.</a:t>
            </a:r>
            <a:r>
              <a:rPr sz="1700">
                <a:solidFill>
                  <a:srgbClr val="5B6B7A"/>
                </a:solidFill>
                <a:latin typeface="Segoe UI"/>
              </a:rPr>
              <a:t>  An approving reviewer is worse than none: it gets believed.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THE AGENT TEAM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141B22"/>
                </a:solidFill>
                <a:latin typeface="Segoe UI"/>
              </a:rPr>
              <a:t>Plans you approve, progress you can trust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371600" cy="34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Team mode plans before it acts.</a:t>
            </a:r>
            <a:r>
              <a:rPr sz="1700">
                <a:solidFill>
                  <a:srgbClr val="5B6B7A"/>
                </a:solidFill>
                <a:latin typeface="Segoe UI"/>
              </a:rPr>
              <a:t>  Gets a plan from the expert, proposes it, waits for your approval.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The plan is held in the prompt.</a:t>
            </a:r>
            <a:r>
              <a:rPr sz="1700">
                <a:solidFill>
                  <a:srgbClr val="5B6B7A"/>
                </a:solidFill>
                <a:latin typeface="Segoe UI"/>
              </a:rPr>
              <a:t>  As present at step twenty as at step one.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Steps are tracked as checkpoints.</a:t>
            </a:r>
            <a:r>
              <a:rPr sz="1700">
                <a:solidFill>
                  <a:srgbClr val="5B6B7A"/>
                </a:solidFill>
                <a:latin typeface="Segoe UI"/>
              </a:rPr>
              <a:t>  Identified by content, so editing the plan never mislabels done work.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Coloured by who actually did it.</a:t>
            </a:r>
            <a:r>
              <a:rPr sz="1700">
                <a:solidFill>
                  <a:srgbClr val="5B6B7A"/>
                </a:solidFill>
                <a:latin typeface="Segoe UI"/>
              </a:rPr>
              <a:t>  Recorded from consultations that happened — not from the model's claim.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B6B7A"/>
                </a:solidFill>
                <a:latin typeface="Segoe UI"/>
              </a:rPr>
              <a:t>A colour reads as a fact about who did the work. So it is a fact, not a description.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CHOOSING THE TEAM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141B22"/>
                </a:solidFill>
                <a:latin typeface="Segoe UI"/>
              </a:rPr>
              <a:t>Which model takes which seat — decided from evidence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371600" cy="34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Five short probes.</a:t>
            </a:r>
            <a:r>
              <a:rPr sz="1700">
                <a:solidFill>
                  <a:srgbClr val="5B6B7A"/>
                </a:solidFill>
                <a:latin typeface="Segoe UI"/>
              </a:rPr>
              <a:t>  Instruction-following, honesty, code, debugging, contradiction-spotting.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Graded by your expert seat.</a:t>
            </a:r>
            <a:r>
              <a:rPr sz="1700">
                <a:solidFill>
                  <a:srgbClr val="5B6B7A"/>
                </a:solidFill>
                <a:latin typeface="Segoe UI"/>
              </a:rPr>
              <a:t>  One model's judgement of another, with the answers shown.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Several models compared side by side.</a:t>
            </a:r>
            <a:r>
              <a:rPr sz="1700">
                <a:solidFill>
                  <a:srgbClr val="5B6B7A"/>
                </a:solidFill>
                <a:latin typeface="Segoe UI"/>
              </a:rPr>
              <a:t>  Because 'which should review' is a comparison, not a verdict.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Never from the model's name.</a:t>
            </a:r>
            <a:r>
              <a:rPr sz="1700">
                <a:solidFill>
                  <a:srgbClr val="5B6B7A"/>
                </a:solidFill>
                <a:latin typeface="Segoe UI"/>
              </a:rPr>
              <a:t>  That is a recall question about training data, and it is unfalsifiable.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B6B7A"/>
                </a:solidFill>
                <a:latin typeface="Segoe UI"/>
              </a:rPr>
              <a:t>The same weights behind two gateways do not behave the same. So it measures this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CONSULTING UPWARD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141B22"/>
                </a:solidFill>
                <a:latin typeface="Segoe UI"/>
              </a:rPr>
              <a:t>A cheap model that can ask a strong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371600" cy="34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Claude, as a separate process.</a:t>
            </a:r>
            <a:r>
              <a:rPr sz="1700">
                <a:solidFill>
                  <a:srgbClr val="5B6B7A"/>
                </a:solidFill>
                <a:latin typeface="Segoe UI"/>
              </a:rPr>
              <a:t>  Your primary model consults it on genuinely hard problems.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Read-only by construction.</a:t>
            </a:r>
            <a:r>
              <a:rPr sz="1700">
                <a:solidFill>
                  <a:srgbClr val="5B6B7A"/>
                </a:solidFill>
                <a:latin typeface="Segoe UI"/>
              </a:rPr>
              <a:t>  It may read and search; it can never edit or run anything.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Everything still passes your approval gate.</a:t>
            </a:r>
            <a:r>
              <a:rPr sz="1700">
                <a:solidFill>
                  <a:srgbClr val="5B6B7A"/>
                </a:solidFill>
                <a:latin typeface="Segoe UI"/>
              </a:rPr>
              <a:t>  A second agent mutating the repo is exactly what that prevents.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The price is measured here, not assumed.</a:t>
            </a:r>
            <a:r>
              <a:rPr sz="1700">
                <a:solidFill>
                  <a:srgbClr val="5B6B7A"/>
                </a:solidFill>
                <a:latin typeface="Segoe UI"/>
              </a:rPr>
              <a:t>  Published rates are not your plan's rates.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Savings reported as a floor.</a:t>
            </a:r>
            <a:r>
              <a:rPr sz="1700">
                <a:solidFill>
                  <a:srgbClr val="5B6B7A"/>
                </a:solidFill>
                <a:latin typeface="Segoe UI"/>
              </a:rPr>
              <a:t>  Never an estimate — a large persuasive number would be a guess.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TEACHING IT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141B22"/>
                </a:solidFill>
                <a:latin typeface="Segoe UI"/>
              </a:rPr>
              <a:t>Skills — and the cost model that makes them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371600" cy="34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Markdown with frontmatter.</a:t>
            </a:r>
            <a:r>
              <a:rPr sz="1700">
                <a:solidFill>
                  <a:srgbClr val="5B6B7A"/>
                </a:solidFill>
                <a:latin typeface="Segoe UI"/>
              </a:rPr>
              <a:t>  Internal libraries, house conventions, the things nobody writes down.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Only the name and description cost anything.</a:t>
            </a:r>
            <a:r>
              <a:rPr sz="1700">
                <a:solidFill>
                  <a:srgbClr val="5B6B7A"/>
                </a:solidFill>
                <a:latin typeface="Segoe UI"/>
              </a:rPr>
              <a:t>  Bodies are read on demand, so a skill can grow without a bill.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Found by meaning, not by listing.</a:t>
            </a:r>
            <a:r>
              <a:rPr sz="1700">
                <a:solidFill>
                  <a:srgbClr val="5B6B7A"/>
                </a:solidFill>
                <a:latin typeface="Segoe UI"/>
              </a:rPr>
              <a:t>  Searched semantically when something is relevant.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Standing instructions when you need them.</a:t>
            </a:r>
            <a:r>
              <a:rPr sz="1700">
                <a:solidFill>
                  <a:srgbClr val="5B6B7A"/>
                </a:solidFill>
                <a:latin typeface="Segoe UI"/>
              </a:rPr>
              <a:t>  Marked always, injected in full, kept short on purpose.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It offers to write them.</a:t>
            </a:r>
            <a:r>
              <a:rPr sz="1700">
                <a:solidFill>
                  <a:srgbClr val="5B6B7A"/>
                </a:solidFill>
                <a:latin typeface="Segoe UI"/>
              </a:rPr>
              <a:t>  And to correct one when the code contradicts it — a stale skill is worse than none.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TEACHING IT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141B22"/>
                </a:solidFill>
                <a:latin typeface="Segoe UI"/>
              </a:rPr>
              <a:t>Team skills — pool what you have taught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371600" cy="34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Everyone publishes to their own collection.</a:t>
            </a:r>
            <a:r>
              <a:rPr sz="1700">
                <a:solidFill>
                  <a:srgbClr val="5B6B7A"/>
                </a:solidFill>
                <a:latin typeface="Segoe UI"/>
              </a:rPr>
              <a:t>  One shared alias makes them searchable together.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The whole skill is stored, not just a pointer.</a:t>
            </a:r>
            <a:r>
              <a:rPr sz="1700">
                <a:solidFill>
                  <a:srgbClr val="5B6B7A"/>
                </a:solidFill>
                <a:latin typeface="Segoe UI"/>
              </a:rPr>
              <a:t>  A colleague's skill has no file on your disk to go and read.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Name collisions are reported, never blocked.</a:t>
            </a:r>
            <a:r>
              <a:rPr sz="1700">
                <a:solidFill>
                  <a:srgbClr val="5B6B7A"/>
                </a:solidFill>
                <a:latin typeface="Segoe UI"/>
              </a:rPr>
              <a:t>  An exact question deserves an exact answer, not a near-miss.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Separate from code search, deliberately.</a:t>
            </a:r>
            <a:r>
              <a:rPr sz="1700">
                <a:solidFill>
                  <a:srgbClr val="5B6B7A"/>
                </a:solidFill>
                <a:latin typeface="Segoe UI"/>
              </a:rPr>
              <a:t>  Pooling what you taught it and pooling your source are different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B6B7A"/>
                </a:solidFill>
                <a:latin typeface="Segoe UI"/>
              </a:rPr>
              <a:t>Someone works out how the internal library really behaves. Everybody gets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EXTENDING IT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141B22"/>
                </a:solidFill>
                <a:latin typeface="Segoe UI"/>
              </a:rPr>
              <a:t>Python tools the assistant writes for itself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371600" cy="34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It creates a tool, and the tool persists.</a:t>
            </a:r>
            <a:r>
              <a:rPr sz="1700">
                <a:solidFill>
                  <a:srgbClr val="5B6B7A"/>
                </a:solidFill>
                <a:latin typeface="Segoe UI"/>
              </a:rPr>
              <a:t>  Callable from then on, like any built-in.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The file is the only source of truth.</a:t>
            </a:r>
            <a:r>
              <a:rPr sz="1700">
                <a:solidFill>
                  <a:srgbClr val="5B6B7A"/>
                </a:solidFill>
                <a:latin typeface="Segoe UI"/>
              </a:rPr>
              <a:t>  Schema from type hints, description from the docstring — nothing hand-maintained.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Dependencies declared inline, installed before use.</a:t>
            </a:r>
            <a:r>
              <a:rPr sz="1700">
                <a:solidFill>
                  <a:srgbClr val="5B6B7A"/>
                </a:solidFill>
                <a:latin typeface="Segoe UI"/>
              </a:rPr>
              <a:t>  A missing library names the package, not a stack trace.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Approval is pinned to a content hash.</a:t>
            </a:r>
            <a:r>
              <a:rPr sz="1700">
                <a:solidFill>
                  <a:srgbClr val="5B6B7A"/>
                </a:solidFill>
                <a:latin typeface="Segoe UI"/>
              </a:rPr>
              <a:t>  Change the file after approval and it refuses to load.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It runs in your project's own virtualenv.</a:t>
            </a:r>
            <a:r>
              <a:rPr sz="1700">
                <a:solidFill>
                  <a:srgbClr val="5B6B7A"/>
                </a:solidFill>
                <a:latin typeface="Segoe UI"/>
              </a:rPr>
              <a:t>  Where your internal packages already 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B6B7A"/>
                </a:solidFill>
                <a:latin typeface="Segoe UI"/>
              </a:rPr>
              <a:t>Tools live in the repository, so a change to one is code-reviewed like any other.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EXTENDING IT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141B22"/>
                </a:solidFill>
                <a:latin typeface="Segoe UI"/>
              </a:rPr>
              <a:t>Custom data collection — your data, reachable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371600" cy="34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You write a collector in Python.</a:t>
            </a:r>
            <a:r>
              <a:rPr sz="1700">
                <a:solidFill>
                  <a:srgbClr val="5B6B7A"/>
                </a:solidFill>
                <a:latin typeface="Segoe UI"/>
              </a:rPr>
              <a:t>  It returns records; anything your libraries can reach.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Embedded into your own vector store.</a:t>
            </a:r>
            <a:r>
              <a:rPr sz="1700">
                <a:solidFill>
                  <a:srgbClr val="5B6B7A"/>
                </a:solidFill>
                <a:latin typeface="Segoe UI"/>
              </a:rPr>
              <a:t>  Then searchable from the chat like anything else.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Embedded before recorded.</a:t>
            </a:r>
            <a:r>
              <a:rPr sz="1700">
                <a:solidFill>
                  <a:srgbClr val="5B6B7A"/>
                </a:solidFill>
                <a:latin typeface="Segoe UI"/>
              </a:rPr>
              <a:t>  A failed embedding never marks a row done and quietly loses its meaning.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Unchanged rows are never re-embedded.</a:t>
            </a:r>
            <a:r>
              <a:rPr sz="1700">
                <a:solidFill>
                  <a:srgbClr val="5B6B7A"/>
                </a:solidFill>
                <a:latin typeface="Segoe UI"/>
              </a:rPr>
              <a:t>  Compared on the whole record, so a changed title 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B6B7A"/>
                </a:solidFill>
                <a:latin typeface="Segoe UI"/>
              </a:rPr>
              <a:t>Every assistant indexes your code. This indexes whatever your business actually runs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ON YOUR DESKTOP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141B22"/>
                </a:solidFill>
                <a:latin typeface="Segoe UI"/>
              </a:rPr>
              <a:t>Excel and Outlook — the application already open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371600" cy="34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Attaches to the live workbook.</a:t>
            </a:r>
            <a:r>
              <a:rPr sz="1700">
                <a:solidFill>
                  <a:srgbClr val="5B6B7A"/>
                </a:solidFill>
                <a:latin typeface="Segoe UI"/>
              </a:rPr>
              <a:t>  Unsaved edits included. It never opens a second invisible copy.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Traces a formula to its source.</a:t>
            </a:r>
            <a:r>
              <a:rPr sz="1700">
                <a:solidFill>
                  <a:srgbClr val="5B6B7A"/>
                </a:solidFill>
                <a:latin typeface="Segoe UI"/>
              </a:rPr>
              <a:t>  Across sheets, back to the raw input — why is this #DIV/0!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Checks VBA without running it.</a:t>
            </a:r>
            <a:r>
              <a:rPr sz="1700">
                <a:solidFill>
                  <a:srgbClr val="5B6B7A"/>
                </a:solidFill>
                <a:latin typeface="Segoe UI"/>
              </a:rPr>
              <a:t>  Every fault, not just the first one that stops execution.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Reads mail with its colours intact.</a:t>
            </a:r>
            <a:r>
              <a:rPr sz="1700">
                <a:solidFill>
                  <a:srgbClr val="5B6B7A"/>
                </a:solidFill>
                <a:latin typeface="Segoe UI"/>
              </a:rPr>
              <a:t>  In work email the red line is often the message.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B6B7A"/>
                </a:solidFill>
                <a:latin typeface="Segoe UI"/>
              </a:rPr>
              <a:t>Windows only, opt-in, off by default. No other coding assistant does this.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ON YOUR DESKTOP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141B22"/>
                </a:solidFill>
                <a:latin typeface="Segoe UI"/>
              </a:rPr>
              <a:t>Indexed mail — and the questions embeddings cannot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371600" cy="34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Times and folders are exact facts.</a:t>
            </a:r>
            <a:r>
              <a:rPr sz="1700">
                <a:solidFill>
                  <a:srgbClr val="5B6B7A"/>
                </a:solidFill>
                <a:latin typeface="Segoe UI"/>
              </a:rPr>
              <a:t>  Held outside the vector store and filtered exactly.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'Every day at the same time?' is a counting question.</a:t>
            </a:r>
            <a:r>
              <a:rPr sz="1700">
                <a:solidFill>
                  <a:srgbClr val="5B6B7A"/>
                </a:solidFill>
                <a:latin typeface="Segoe UI"/>
              </a:rPr>
              <a:t>  A semantic search answers it plausibly and wrongly.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Meaning only ranks what the filters found.</a:t>
            </a:r>
            <a:r>
              <a:rPr sz="1700">
                <a:solidFill>
                  <a:srgbClr val="5B6B7A"/>
                </a:solidFill>
                <a:latin typeface="Segoe UI"/>
              </a:rPr>
              <a:t>  Two tools, so the second cannot fake the first.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Patterns report a spread, not just a median.</a:t>
            </a:r>
            <a:r>
              <a:rPr sz="1700">
                <a:solidFill>
                  <a:srgbClr val="5B6B7A"/>
                </a:solidFill>
                <a:latin typeface="Segoe UI"/>
              </a:rPr>
              <a:t>  03:00 one day and 15:00 the next is not a schedule.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66928"/>
            <a:ext cx="1054577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2C55E"/>
                </a:solidFill>
                <a:latin typeface="Segoe UI"/>
              </a:rPr>
              <a:t>WHAT IT WILL NOT DO</a:t>
            </a:r>
          </a:p>
          <a:p>
            <a:pPr>
              <a:spcAft>
                <a:spcPts val="0"/>
              </a:spcAft>
            </a:pPr>
            <a:r>
              <a:rPr sz="3400" b="1">
                <a:solidFill>
                  <a:srgbClr val="141B22"/>
                </a:solidFill>
                <a:latin typeface="Segoe UI"/>
              </a:rPr>
              <a:t>The posture, enforced rather than promised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371600" cy="34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No telemetry. Ever.</a:t>
            </a:r>
            <a:r>
              <a:rPr sz="1700">
                <a:solidFill>
                  <a:srgbClr val="5B6B7A"/>
                </a:solidFill>
                <a:latin typeface="Segoe UI"/>
              </a:rPr>
              <a:t>  Not reduced, not anonymised — absent.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No default endpoints.</a:t>
            </a:r>
            <a:r>
              <a:rPr sz="1700">
                <a:solidFill>
                  <a:srgbClr val="5B6B7A"/>
                </a:solidFill>
                <a:latin typeface="Segoe UI"/>
              </a:rPr>
              <a:t>  A fresh install contacts nothing at all.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The build fails on an external URL.</a:t>
            </a:r>
            <a:r>
              <a:rPr sz="1700">
                <a:solidFill>
                  <a:srgbClr val="5B6B7A"/>
                </a:solidFill>
                <a:latin typeface="Segoe UI"/>
              </a:rPr>
              <a:t>  Checked in CI, so the claim stays true.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A repository cannot repoint your credentials.</a:t>
            </a:r>
            <a:r>
              <a:rPr sz="1700">
                <a:solidFill>
                  <a:srgbClr val="5B6B7A"/>
                </a:solidFill>
                <a:latin typeface="Segoe UI"/>
              </a:rPr>
              <a:t>  Gateway, certificates and executables are user-scope only.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141B22"/>
                </a:solidFill>
                <a:latin typeface="Segoe UI"/>
              </a:rPr>
              <a:t>Approval shows ground truth.</a:t>
            </a:r>
            <a:r>
              <a:rPr sz="1700">
                <a:solidFill>
                  <a:srgbClr val="5B6B7A"/>
                </a:solidFill>
                <a:latin typeface="Segoe UI"/>
              </a:rPr>
              <a:t>  The real command, the computed diff — never the model's description of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400" b="0">
                <a:solidFill>
                  <a:srgbClr val="5B6B7A"/>
                </a:solidFill>
                <a:latin typeface="Segoe UI"/>
              </a:rPr>
              <a:t>Indexing is the largest egress in the product, and the README says so plainly.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4000" b="1">
                <a:solidFill>
                  <a:srgbClr val="141B22"/>
                </a:solidFill>
                <a:latin typeface="Segoe UI"/>
              </a:rPr>
              <a:t>Built for the way work actually happens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5B6B7A"/>
                </a:solidFill>
                <a:latin typeface="Segoe UI"/>
              </a:rPr>
              <a:t>Your gateway. Your models. Your libraries. Your data.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5B6B7A"/>
                </a:solidFill>
                <a:latin typeface="Segoe UI"/>
              </a:rPr>
              <a:t>Open source, MIT, no telemetry.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5B6B7A"/>
                </a:solidFill>
                <a:latin typeface="Segoe UI"/>
              </a:rPr>
              <a:t>VS Code extension, and a Node server for shared use.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5394960"/>
            <a:ext cx="2011680" cy="34000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