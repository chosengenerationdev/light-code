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about 20 seconds. Do not read the slide.</a:t>
            </a:r>
          </a:p>
          <a:p>
            <a:r>
              <a:t>Something like: "This is Light Code. It is an AI coding assistant, it is open source, and the whole reason it exists is that the good ones are hard to use inside a company like ours. I want to show you what it does and, just as importantly, what it does not do."</a:t>
            </a:r>
          </a:p>
          <a:p>
            <a:r>
              <a:t>WHAT "AGENTIC" MEANS, if you need it later An ordinary AI chat answers questions. An agentic one takes actions - it reads your files, searches them, edits them, runs commands - and loops until the job is done. That is the whole difference, and it is why approval matters so much later in this deck.</a:t>
            </a:r>
          </a:p>
          <a:p>
            <a:r>
              <a:t>THE FOUR CLAIMS ON THIS SLIDE</a:t>
            </a:r>
          </a:p>
          <a:p>
            <a:r>
              <a:t>- Open source / MIT licensed: anyone can read the code and use it commercially, free.</a:t>
            </a:r>
          </a:p>
          <a:p>
            <a:r>
              <a:t>- No telemetry: it never reports back to anyone what you did with it.</a:t>
            </a:r>
          </a:p>
          <a:p>
            <a:r>
              <a:t>- No default endpoints: out of the box it has no server addresses in it at all. It literally — cannot phone anywhere until you type in where to go.</a:t>
            </a:r>
          </a:p>
          <a:p>
            <a:r>
              <a:t>That third one is unusual, and slide 5 is built on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SLIDE IN THE DECK. Do not skip it to save time.</a:t>
            </a:r>
          </a:p>
          <a:p>
            <a:r>
              <a:t>WHY IT EXISTS If anyone in the room has used Roo Code, Cline, or Continue, they already know that local open-source assistants keep your code on your machine and already ask permission before acting. If your pitch pretends otherwise, they will say so, and everything after it becomes suspect.</a:t>
            </a:r>
          </a:p>
          <a:p>
            <a:r>
              <a:t>So we concede all three points first, on purpose. It costs nothing - and it buys the right to be believed on slide 3.</a:t>
            </a:r>
          </a:p>
          <a:p>
            <a:r>
              <a:t>WHO ROO CODE IS An open-source VS Code extension, very similar in shape to this one. It is Light Code's reference: several formats and patterns were deliberately copied from it. It was archived in May 2026, meaning development stopped.</a:t>
            </a:r>
          </a:p>
          <a:p>
            <a:r>
              <a:t>HOW TO DELIVER IT Land the bottom line firmly, because it is the pivot for the whole talk: "So the question is not whether a local assistant exists. It is whether one fits our constraints."</a:t>
            </a:r>
          </a:p>
          <a:p>
            <a:r>
              <a:t>IF SOMEONE ASKS "so why not just use Roo?" Perfect. That is the next slide. Say "that is exactly the question"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ARGUMENT. Spend the most time here. Every line is checkable, which is the point.</a:t>
            </a:r>
          </a:p>
          <a:p>
            <a:r>
              <a:t>TRANSLATING THE JARGON - you will be asked about these</a:t>
            </a:r>
          </a:p>
          <a:p>
            <a:r>
              <a:t>* Mutual TLS ("mTLS") — Normally only the server proves who it is - that is the padlock in your browser. Mutual means — the client proves who it is too, by presenting a certificate file. Many corporate gateways — require this and simply refuse connections without it.</a:t>
            </a:r>
          </a:p>
          <a:p>
            <a:r>
              <a:t>* Client certificate / PKI — PKI is the company system that issues those certificate files. On Windows they usually arrive — as a .pfx file with a password. If a tool cannot load one, it cannot connect. Full stop.</a:t>
            </a:r>
          </a:p>
          <a:p>
            <a:r>
              <a:t>* OAuth client-credentials exchange — Instead of one fixed API key that lives forever, the tool sends an ID and a secret, gets back — a short-lived token, and repeats that every hour or so. More secure, and more work to support.</a:t>
            </a:r>
          </a:p>
          <a:p>
            <a:r>
              <a:t>* Private CA — A "certificate authority" vouches for servers. Companies often run their own. Software has to — be told to trust it, or every single connection fails with a confusing error.</a:t>
            </a:r>
          </a:p>
          <a:p>
            <a:r>
              <a:t>* Prefix matching (the auto-approve point) — Say you approve the command "npm test". A prefix system then auto-approves anything starting — with those characters - including "npm test &amp;&amp; rm -rf /". Light Code compares the whole string — exactly, so that second command is a different string and still asks you.</a:t>
            </a:r>
          </a:p>
          <a:p>
            <a:r>
              <a:t>* Fuzzy edit matching — To change code, the tool searches for the text it wants to replace. Fuzzy means it accepts a — close-enough match. If two functions look 95% alike it can edit the wrong one and report — success. Light Code either matches exactly or refuses and tries again.</a:t>
            </a:r>
          </a:p>
          <a:p>
            <a:r>
              <a:t>IF ASKED "is the archived point fair?" Yes, and be precise: Roo Code's last release was v3.54.0 and the repository was archived in May 2026. That is a fact, not a criticism of its quality.</a:t>
            </a:r>
          </a:p>
          <a:p>
            <a:r>
              <a:t>DO NOT OVERCLAIM The "analytics are usually opt-out" line is a general statement about the category, not something verified about any named product. If challenged, retreat to the half you can prove: "I can only speak for this one - it has no analytics code in it at all, and the build fails if the packaged output even mentions an unexpected address." Never name a competitor as spying.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BREATHER. Thirty seconds. This slide just says what the thing actually is.</a:t>
            </a:r>
          </a:p>
          <a:p>
            <a:r>
              <a:t>THE AGENT LOOP, if asked The model proposes one action. You approve. It runs. The result is fed back. It proposes the next one. That repeats until the job is done or it hits a step limit. One action at a time is deliberate - it is what makes approval possible at all.</a:t>
            </a:r>
          </a:p>
          <a:p>
            <a:r>
              <a:t>THE FOUR BOXES</a:t>
            </a:r>
          </a:p>
          <a:p>
            <a:r>
              <a:t>- Contacts nothing: covered properly on the next slide.</a:t>
            </a:r>
          </a:p>
          <a:p>
            <a:r>
              <a:t>- Runs where you do: it is a VS Code extension, and there is also a version that runs as a small — local server you open in a browser. Same engine underneath.</a:t>
            </a:r>
          </a:p>
          <a:p>
            <a:r>
              <a:t>- Wire formats: the three different "languages" AI providers speak. OpenAI-compatible is the — most common; Anthropic and Google use their own. Supporting all three means it can point at — almost any gateway.</a:t>
            </a:r>
          </a:p>
          <a:p>
            <a:r>
              <a:t>- MIT licensed: use it, change it, ship it. No cost, no account, nothing to sign.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TRUST SLIDE. Read the panel out loud - it is written as a single quotable sentence.</a:t>
            </a:r>
          </a:p>
          <a:p>
            <a:r>
              <a:t>WHAT "NO DEFAULT ENDPOINTS" REALLY MEANS Most software has server addresses baked in - for updates, analytics, licence checks. This has none. On a fresh install there is nowhere for it to call. You type in your gateway address, and that becomes the only place it goes.</a:t>
            </a:r>
          </a:p>
          <a:p>
            <a:r>
              <a:t>THE TWO PROOFS - this is the part worth emphasising These are not promises, they are automated checks that run every time the code is built:</a:t>
            </a:r>
          </a:p>
          <a:p>
            <a:r>
              <a:t>- One inspects the finished, packaged extension and fails the build if it finds any web address — that is not on a short reviewed list.</a:t>
            </a:r>
          </a:p>
          <a:p>
            <a:r>
              <a:t>- Another runs the entire test suite on a machine with the internet blocked, including starting — the extension up. If anything secretly needed a connection, that test fails.</a:t>
            </a:r>
          </a:p>
          <a:p>
            <a:r>
              <a:t>IF ASKED "how would we verify this ourselves?" The best possible answer, and it is true: read the source, it is public and MIT licensed. Or watch it with a network monitor. The claim is designed to be checkable rather than trusted.</a:t>
            </a:r>
          </a:p>
          <a:p>
            <a:r>
              <a:t>IF ASKED ABOUT INDEXING Be straight: switching on codebase search does send your code to whichever embedding service you configure. It is off by default, and the product says so plainly. That is slide 11.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STRONGEST SLIDE. If you only get three minutes, use them here.</a:t>
            </a:r>
          </a:p>
          <a:p>
            <a:r>
              <a:t>WHY THIS IS THE REAL DIFFERENTIATOR Everything else on the market can be pointed at a URL with an API key. Very little of it can present a client certificate, exchange credentials for a rotating token, or be told to trust a private certificate authority. If your gateway requires those, most tools are not "harder to use" - they are unusable, and no amount of enthusiasm fixes it.</a:t>
            </a:r>
          </a:p>
          <a:p>
            <a:r>
              <a:t>THE FOUR ROWS IN PLAIN WORDS 1. It speaks all three provider languages, and you can keep several saved configurations and switch between them. 2. It can present your company certificate, including the .pfx form Windows PKI usually issues. The password goes in the operating system's credential store, not into a config file. 3. It can do the ID-and-secret-for-a-token dance, and renews the token before it expires rather than after something has already failed halfway through a response. 4. Your company's certificate authority is configured once and used for every connection, not re-entered in four places.</a:t>
            </a:r>
          </a:p>
          <a:p>
            <a:r>
              <a:t>THE LINE AT THE BOTTOM IS YOUR DEMO "Test Connection" tries loading the certificates, then getting a token, then listing the available models - and tells you which of those three failed. Anyone who has spent a day debugging a corporate TLS error will understand immediately why that matters. If you can demo one thing live, demo this.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Expect questions from anyone security-minded.</a:t>
            </a:r>
          </a:p>
          <a:p>
            <a:r>
              <a:t>"GROUND TRUTH" - what it means and why it is not obvious The AI says what it intends to do. A naive tool shows you that description and asks you to approve. But the description and the action are two different things, and the model can be wrong about its own intentions.</a:t>
            </a:r>
          </a:p>
          <a:p>
            <a:r>
              <a:t>Light Code shows you the real command it is about to run, and the real change it computed, produced by the very same code that will execute. So what you approve is what happens. It cannot describe one thing and do another.</a:t>
            </a:r>
          </a:p>
          <a:p>
            <a:r>
              <a:t>THE COMMAND EXAMPLE IS WORTH SAYING ALOUD "If you allow 'npm test', you have allowed exactly those eight characters. 'npm test; rm -rf /' is a different string, so it still stops and asks you."</a:t>
            </a:r>
          </a:p>
          <a:p>
            <a:r>
              <a:t>THE THREE SMALLER ONES</a:t>
            </a:r>
          </a:p>
          <a:p>
            <a:r>
              <a:t>- Checkpoints: it quietly snapshots your files before its first edit, so you can undo an entire — task in one click. It uses a separate hidden copy and never touches your own git history.</a:t>
            </a:r>
          </a:p>
          <a:p>
            <a:r>
              <a:t>- Read before edit: it is not allowed to change a file it has not read in this session. Removes — a whole class of confident edits to files it only imagined.</a:t>
            </a:r>
          </a:p>
          <a:p>
            <a:r>
              <a:t>- Audit log: every action and every login is recorded with a timestamp. Passwords and tokens are — never written to it.</a:t>
            </a:r>
          </a:p>
          <a:p>
            <a:r>
              <a:t>IF ASKED "can I just turn approvals off?" Yes - there are auto-approve switches by category, and they all ship off. Being able to relax it deliberately is different from it being relaxed by default.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THAT SURPRISES PEOPLE. Worth slowing down for.</a:t>
            </a:r>
          </a:p>
          <a:p>
            <a:r>
              <a:t>THE PROBLEM IN ONE SENTENCE Most developer tools read their settings from a file inside the project folder. That is normally convenient. But it means that if you clone somebody else's repository, their settings file configures your tool - before you have read a line of their code.</a:t>
            </a:r>
          </a:p>
          <a:p>
            <a:r>
              <a:t>WHY THAT IS DANGEROUS HERE A settings file could name a different AI gateway, so your code and prompts go to a server the repository author chose. Or it could arrive with commands already on the approved list, so they run without asking. Neither requires you to do anything except open the folder.</a:t>
            </a:r>
          </a:p>
          <a:p>
            <a:r>
              <a:t>WHAT LIGHT CODE DOES Certain settings can only ever come from your own machine, and are ignored - visibly, with a warning - if a project folder tries to set them. Credentials, which gateway is active, certificate locations, the approved-command list, and where indexed code is sent.</a:t>
            </a:r>
          </a:p>
          <a:p>
            <a:r>
              <a:t>"USER-SCOPE ONLY" simply means "only you can set this, not the project."</a:t>
            </a:r>
          </a:p>
          <a:p>
            <a:r>
              <a:t>IF ASKED "has anyone actually been attacked this way?" Be honest: this is a designed-against risk, not an incident being reported. The reasoning is that the cost of the defence was small and the cost of being wrong is your credentials. That is a good answer; do not inflate it into a scare story.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IT STOPS BEING GENERIC. This is the slide people find most immediately useful.</a:t>
            </a:r>
          </a:p>
          <a:p>
            <a:r>
              <a:t>THE PROBLEM BOTH OF THESE SOLVE A general AI knows public libraries. It knows nothing about the internal library your team wrote, your naming conventions, or the reason you do a thing the unusual way. Out of the box it will confidently write code that does not fit.</a:t>
            </a:r>
          </a:p>
          <a:p>
            <a:r>
              <a:t>SKILLS - in plain words A skill is just a Markdown file in the repository. You write down something durable: how our internal library is used, what the house style is, the thing every new joiner gets told.</a:t>
            </a:r>
          </a:p>
          <a:p>
            <a:r>
              <a:t>The clever part is the cost. Only the skill's name and a one-line description sit in front of the model all the time; the full text is fetched only when it is actually relevant. So you can have a hundred of them without slowing anything down or spending much.</a:t>
            </a:r>
          </a:p>
          <a:p>
            <a:r>
              <a:t>It also offers to write one for you when you explain something that will still be true next month, and offers to fix one when the code has moved on. A wrong skill is worse than none.</a:t>
            </a:r>
          </a:p>
          <a:p>
            <a:r>
              <a:t>PYTHON TOOLS - in plain words If the assistant needs a capability it does not have, it can write a small Python program to do it. You are shown the complete source code and approve it. From then on it can call it.</a:t>
            </a:r>
          </a:p>
          <a:p>
            <a:r>
              <a:t>"PINNED BY CONTENT HASH" - the bit worth explaining A hash is a fingerprint of the file's exact contents. The approval records that fingerprint. If anyone changes the file afterwards - even one character - the fingerprint no longer matches and the tool refuses to run rather than running something you never approved.</a:t>
            </a:r>
          </a:p>
          <a:p>
            <a:r>
              <a:t>They are saved inside the repository on purpose, so they show up in code review like anything else.</a:t>
            </a:r>
          </a:p>
          <a:p>
            <a:r>
              <a:t>IF ASKED "isn't AI-written code that runs itself dangerous?" It is the sharpest surface in the product, and the honest answer is: you approve the full source before it ever runs, the fingerprint stops silent changes, and it lives in version control where your normal review process sees it. It is not sandboxed - which is on slide 13.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FOR THE NON-DEVELOPERS IN THE ROOM. Often the one people remember.</a:t>
            </a:r>
          </a:p>
          <a:p>
            <a:r>
              <a:t>WHAT IS ACTUALLY HAPPENING On Windows, it connects to the Excel or Outlook you already have open. Not a copy of the file on disk - the live application, including edits you have not saved. It never opens or launches either program itself, and never saves anything.</a:t>
            </a:r>
          </a:p>
          <a:p>
            <a:r>
              <a:t>THE THREE CAPABILITIES</a:t>
            </a:r>
          </a:p>
          <a:p>
            <a:r>
              <a:t>- Formula tracing: the "why is this cell showing an error" question. It follows the formula back — through everything that feeds it, across sheets, until it reaches typed-in numbers - and tells — you the specific cell that is broken, even if the range being summed is thousands of cells.</a:t>
            </a:r>
          </a:p>
          <a:p>
            <a:r>
              <a:t>- Macro checking: reads VBA code and reports every problem it can see without running anything. Running a macro always asks first, and shows you the actual code it is about to run.</a:t>
            </a:r>
          </a:p>
          <a:p>
            <a:r>
              <a:t>- Mail: search a mailbox by time window and read messages with the formatting preserved. That — matters more than it sounds - in work email the red line often *is* the message, and plain — text throws that away.</a:t>
            </a:r>
          </a:p>
          <a:p>
            <a:r>
              <a:t>WHY IT IS OFF BY DEFAULT - be ready for this Because it can read your mail and your open spreadsheets. That is a big permission, so it ships disabled, only you can enable it, and a repository cannot turn it on. If someone asks why it is not on by default, that answer lands well.</a:t>
            </a:r>
          </a:p>
          <a:p>
            <a:r>
              <a:t>CAVEAT TO KNOW Windows only. It relies on a Windows-specific way of talking between applications. On Mac or Linux the tools are simply absent rather than present and broken.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AT ONCE. Keep it brisk - about a minute unless someone bites.</a:t>
            </a:r>
          </a:p>
          <a:p>
            <a:r>
              <a:t>MCP SERVERS MCP is an emerging standard for plugging extra capabilities into AI assistants - a connector for a database, a ticketing system, a company API. The point for us is that configurations are interchangeable: a config written for another client can be pasted in unchanged. You can switch individual tools off, and set a longer timeout for the one that always takes four minutes.</a:t>
            </a:r>
          </a:p>
          <a:p>
            <a:r>
              <a:t>SCHEDULED PROMPTS Give it a task and a schedule; read the report in the morning. The important detail is the safety design: nobody is present to approve anything at 3am, so an unattended run starts with no permissions at all, and you tick the specific tools it may use when you create the schedule.</a:t>
            </a:r>
          </a:p>
          <a:p>
            <a:r>
              <a:t>SEMANTIC CODEBASE SEARCH Normal search finds the exact word you typed. Semantic search finds things that mean something similar - "where do we handle failed payments" rather than grepping for a function name.</a:t>
            </a:r>
          </a:p>
          <a:p>
            <a:r>
              <a:t>It works by converting code into lists of numbers that capture meaning, stored in a database called a vector store. You host that database - three options are supported - and you choose the service that does the converting.</a:t>
            </a:r>
          </a:p>
          <a:p>
            <a:r>
              <a:t>BE HONEST HERE This is the one feature that genuinely sends your source code somewhere. That is why it is off by default and why the product tells you the destination before it starts. If someone in the room is nervous about the whole idea, this is the switch they care about, and it is already off.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MONEY. Adjust the emphasis to your audience - engineers may shrug, budget holders will not.</a:t>
            </a:r>
          </a:p>
          <a:p>
            <a:r>
              <a:t>THE IDEA IN ONE SENTENCE Strong AI models are expensive; weak ones are cheap but make poor plans. So a cheap model does the typing, and consults an expensive one for the thinking - which is a small fraction of the work.</a:t>
            </a:r>
          </a:p>
          <a:p>
            <a:r>
              <a:t>WHY "PRICED ON YOUR MACHINE" MATTERS Published price lists often do not match what an organisation is actually charged - corporate plans account for usage differently. So rather than assume, there is a button that runs two trivial requests, measures what they really cost in your environment, and plans using those numbers.</a:t>
            </a:r>
          </a:p>
          <a:p>
            <a:r>
              <a:t>THE BUDGET You can cap spending per conversation, in money or in number of consultations. You can change it mid-task. And the assistant is told how much is left, so it plans something that fits rather than stopping halfway.</a:t>
            </a:r>
          </a:p>
          <a:p>
            <a:r>
              <a:t>THE THIRD ROW IS THE ONE TO BE PROUD OF It reports what it has saved as a *floor* - "at least this much" - and shows the arithmetic. It deliberately does not estimate what the expensive model would have charged to do the whole job, because nothing can know that. Most tools would have quoted a big impressive number here.</a:t>
            </a:r>
          </a:p>
          <a:p>
            <a:r>
              <a:t>DO NOT QUOTE ANY DOLLAR FIGURE There is no cost figure anywhere in this deck, deliberately. Any number would come from one machine on one plan and would not be true for us. If asked "how much does it save?", say: "It measures that on your own machine and shows you - I would rather you saw your own number than believed mine."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HONESTY SLIDE. Do not rush it, and do not apologise for it.</a:t>
            </a:r>
          </a:p>
          <a:p>
            <a:r>
              <a:t>WHY IT IS IN A PITCH AT ALL Because the first question from anyone serious is "what's the catch". Answering before they ask is worth more than an extra feature. It also means that when you claim something on an earlier slide, they believe you.</a:t>
            </a:r>
          </a:p>
          <a:p>
            <a:r>
              <a:t>"IT DOES NOT SANDBOX WHAT IT RUNS" - the one to understand A sandbox is a locked room a program runs inside, so it cannot touch anything else. This has no sandbox. When it runs a command, that command runs as you, with everything you can reach. The protection is that you approved it first - not that the system would stop it.</a:t>
            </a:r>
          </a:p>
          <a:p>
            <a:r>
              <a:t>That is the same as any terminal you already use, which is a fair comparison to draw.</a:t>
            </a:r>
          </a:p>
          <a:p>
            <a:r>
              <a:t>THE OTHERS</a:t>
            </a:r>
          </a:p>
          <a:p>
            <a:r>
              <a:t>- No browser automation, no OCR: it will not drive a web browser, and will not guess at a — scanned PDF it cannot read. It says it cannot rather than inventing something.</a:t>
            </a:r>
          </a:p>
          <a:p>
            <a:r>
              <a:t>- Shared hosting: the browser version runs everyone's work under one account, so it is only — appropriate for a team who already share access to everything. It is not multi-tenant.</a:t>
            </a:r>
          </a:p>
          <a:p>
            <a:r>
              <a:t>- Young and small: fewer features than mature alternatives, on purpose. If someone needs breadth — today, waiting is a legitimate choice, and saying so makes you more credible, not less.</a:t>
            </a:r>
          </a:p>
          <a:p>
            <a:r>
              <a:t>IF SOMEONE SEIZES ON THE SANDBOX POINT "Agreed, and that is why every action is shown to you before it happens, why nothing is auto-approved out of the box, and why there is an audit log. If we wanted true isolation we would run it in a container - that is a deployment decision, not a product one."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SUMMARY. Six reasons, thirty seconds each at most. Do not read them all out - pick the three that matter to the people in the room.</a:t>
            </a:r>
          </a:p>
          <a:p>
            <a:r>
              <a:t>WHICH TO PICK</a:t>
            </a:r>
          </a:p>
          <a:p>
            <a:r>
              <a:t>- Security or compliance in the room: "It can authenticate to our gateway" and "Nothing is — measuring us".</a:t>
            </a:r>
          </a:p>
          <a:p>
            <a:r>
              <a:t>- Budget holders: "Spend is visible and capped".</a:t>
            </a:r>
          </a:p>
          <a:p>
            <a:r>
              <a:t>- Engineering leads: "It learns our way of working" and "We can change it ourselves".</a:t>
            </a:r>
          </a:p>
          <a:p>
            <a:r>
              <a:t>- Anyone outside engineering: "It reaches past engineering".</a:t>
            </a:r>
          </a:p>
          <a:p>
            <a:r>
              <a:t>THIS SLIDE NEEDS YOUR INPUT, NOT MINE It is written generically because I do not know your environment. Before presenting, consider adding one concrete line: which team would pilot it, which gateway it would point at, who would own it. A specific first step beats six general benefits.</a:t>
            </a:r>
          </a:p>
          <a:p>
            <a:r>
              <a:t>THE LAST BOX MATTERS MORE THAN IT LOOKS "No archived repository to fork" is a quiet callback to slide 3. If we adopt the archived tool and find a bug, we own the fix forever with no upstream. That is a real, boring, expensive risk and it is worth naming.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CLOSE. Keep it short and make the ask explicit.</a:t>
            </a:r>
          </a:p>
          <a:p>
            <a:r>
              <a:t>THE THREE STEPS ARE GENUINELY THE WHOLE SETUP Install the extension, create a profile with your gateway address and credentials, press Test Connection, start typing. Everything else - auto-approval, indexing, Excel and Outlook access - stays switched off until somebody deliberately turns it on. That is worth repeating as your last substantive point, because it means trying it commits you to nothing.</a:t>
            </a:r>
          </a:p>
          <a:p>
            <a:r>
              <a:t>YOU NEED TO ADD ONE THING There is no install link on this slide, because I do not know how extensions reach machines in your organisation. Add that before presenting - a marketplace link, an internal package, or just your own name as the person to ask.</a:t>
            </a:r>
          </a:p>
          <a:p>
            <a:r>
              <a:t>A GOOD CLOSING ASK Something small and specific beats enthusiasm: one team, two weeks, pointed at the existing gateway, and report back. Nothing to procure, nothing to sign, and it can be uninstalled with a click.</a:t>
            </a:r>
          </a:p>
          <a:p>
            <a:r>
              <a:t>IF THERE IS TIME FOR A DEMO Test Connection on slide 6 is the best thirty seconds you have. Second best is asking it a question about a spreadsheet you have open.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2A228C"/>
            </a:gs>
            <a:gs pos="100000">
              <a:srgbClr val="7B3CC4"/>
            </a:gs>
          </a:gsLst>
          <a:lin scaled="0" ang="18900000"/>
        </a:gradFill>
        <a:effectLst/>
      </p:bgPr>
    </p:bg>
    <p:spTree>
      <p:nvGrpSpPr>
        <p:cNvPr id="1" name=""/>
        <p:cNvGrpSpPr/>
        <p:nvPr/>
      </p:nvGrpSpPr>
      <p:grpSpPr/>
      <p:pic>
        <p:nvPicPr>
          <p:cNvPr id="2" name="Picture 1" descr="icon-256.png"/>
          <p:cNvPicPr>
            <a:picLocks noChangeAspect="1"/>
          </p:cNvPicPr>
          <p:nvPr/>
        </p:nvPicPr>
        <p:blipFill>
          <a:blip r:embed="rId2"/>
          <a:stretch>
            <a:fillRect/>
          </a:stretch>
        </p:blipFill>
        <p:spPr>
          <a:xfrm>
            <a:off x="777240" y="1737360"/>
            <a:ext cx="1051560" cy="1051560"/>
          </a:xfrm>
          <a:prstGeom prst="rect">
            <a:avLst/>
          </a:prstGeom>
        </p:spPr>
      </p:pic>
      <p:sp>
        <p:nvSpPr>
          <p:cNvPr id="3" name="TextBox 2"/>
          <p:cNvSpPr txBox="1"/>
          <p:nvPr/>
        </p:nvSpPr>
        <p:spPr>
          <a:xfrm>
            <a:off x="777240" y="3017520"/>
            <a:ext cx="9601200" cy="1280160"/>
          </a:xfrm>
          <a:prstGeom prst="rect">
            <a:avLst/>
          </a:prstGeom>
          <a:noFill/>
        </p:spPr>
        <p:txBody>
          <a:bodyPr wrap="square" lIns="0" rIns="0" tIns="0" bIns="0" anchor="t">
            <a:spAutoFit/>
          </a:bodyPr>
          <a:lstStyle/>
          <a:p>
            <a:pPr algn="l">
              <a:lnSpc>
                <a:spcPct val="100000"/>
              </a:lnSpc>
              <a:spcBef>
                <a:spcPts val="0"/>
              </a:spcBef>
              <a:spcAft>
                <a:spcPts val="0"/>
              </a:spcAft>
            </a:pPr>
            <a:r>
              <a:rPr sz="6000" b="1">
                <a:solidFill>
                  <a:srgbClr val="FFFFFF"/>
                </a:solidFill>
                <a:latin typeface="Segoe UI"/>
              </a:rPr>
              <a:t>Light Code</a:t>
            </a:r>
          </a:p>
        </p:txBody>
      </p:sp>
      <p:sp>
        <p:nvSpPr>
          <p:cNvPr id="4" name="TextBox 3"/>
          <p:cNvSpPr txBox="1"/>
          <p:nvPr/>
        </p:nvSpPr>
        <p:spPr>
          <a:xfrm>
            <a:off x="777240" y="4041648"/>
            <a:ext cx="9692640" cy="1097280"/>
          </a:xfrm>
          <a:prstGeom prst="rect">
            <a:avLst/>
          </a:prstGeom>
          <a:noFill/>
        </p:spPr>
        <p:txBody>
          <a:bodyPr wrap="square" lIns="0" rIns="0" tIns="0" bIns="0" anchor="t">
            <a:spAutoFit/>
          </a:bodyPr>
          <a:lstStyle/>
          <a:p>
            <a:pPr algn="l">
              <a:lnSpc>
                <a:spcPct val="125000"/>
              </a:lnSpc>
              <a:spcBef>
                <a:spcPts val="0"/>
              </a:spcBef>
              <a:spcAft>
                <a:spcPts val="0"/>
              </a:spcAft>
            </a:pPr>
            <a:r>
              <a:rPr sz="2300" b="0">
                <a:solidFill>
                  <a:srgbClr val="BAF5FD"/>
                </a:solidFill>
                <a:latin typeface="Segoe UI"/>
              </a:rPr>
              <a:t>An AI coding assistant built for the inside of an organisation</a:t>
            </a:r>
          </a:p>
        </p:txBody>
      </p:sp>
      <p:sp>
        <p:nvSpPr>
          <p:cNvPr id="5" name="Rectangle 4"/>
          <p:cNvSpPr/>
          <p:nvPr/>
        </p:nvSpPr>
        <p:spPr>
          <a:xfrm>
            <a:off x="777240" y="4956048"/>
            <a:ext cx="1463040" cy="45720"/>
          </a:xfrm>
          <a:prstGeom prst="rect">
            <a:avLst/>
          </a:prstGeom>
          <a:solidFill>
            <a:srgbClr val="BA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193792"/>
            <a:ext cx="9692640" cy="457200"/>
          </a:xfrm>
          <a:prstGeom prst="rect">
            <a:avLst/>
          </a:prstGeom>
          <a:noFill/>
        </p:spPr>
        <p:txBody>
          <a:bodyPr wrap="square" lIns="0" rIns="0" tIns="0" bIns="0" anchor="t">
            <a:spAutoFit/>
          </a:bodyPr>
          <a:lstStyle/>
          <a:p>
            <a:pPr algn="l">
              <a:spcBef>
                <a:spcPts val="0"/>
              </a:spcBef>
              <a:spcAft>
                <a:spcPts val="0"/>
              </a:spcAft>
            </a:pPr>
            <a:r>
              <a:rPr sz="1450" b="0">
                <a:solidFill>
                  <a:srgbClr val="C8C5E8"/>
                </a:solidFill>
                <a:latin typeface="Segoe UI"/>
              </a:rPr>
              <a:t>Open source · MIT licensed · No telemetry, ever · No default endpoints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77240" y="566928"/>
            <a:ext cx="566928" cy="6858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86384"/>
            <a:ext cx="10637215" cy="365760"/>
          </a:xfrm>
          <a:prstGeom prst="rect">
            <a:avLst/>
          </a:prstGeom>
          <a:noFill/>
        </p:spPr>
        <p:txBody>
          <a:bodyPr wrap="square" lIns="0" rIns="0" tIns="0" bIns="0" anchor="t">
            <a:spAutoFit/>
          </a:bodyPr>
          <a:lstStyle/>
          <a:p>
            <a:pPr algn="l">
              <a:spcBef>
                <a:spcPts val="0"/>
              </a:spcBef>
              <a:spcAft>
                <a:spcPts val="0"/>
              </a:spcAft>
            </a:pPr>
            <a:r>
              <a:rPr sz="1250" b="1">
                <a:solidFill>
                  <a:srgbClr val="A855F7"/>
                </a:solidFill>
                <a:latin typeface="Segoe UI"/>
              </a:rPr>
              <a:t>STARTING HONESTLY</a:t>
            </a:r>
          </a:p>
        </p:txBody>
      </p:sp>
      <p:sp>
        <p:nvSpPr>
          <p:cNvPr id="4" name="TextBox 3"/>
          <p:cNvSpPr txBox="1"/>
          <p:nvPr/>
        </p:nvSpPr>
        <p:spPr>
          <a:xfrm>
            <a:off x="777240" y="1188720"/>
            <a:ext cx="10637215" cy="1143000"/>
          </a:xfrm>
          <a:prstGeom prst="rect">
            <a:avLst/>
          </a:prstGeom>
          <a:noFill/>
        </p:spPr>
        <p:txBody>
          <a:bodyPr wrap="square" lIns="0" rIns="0" tIns="0" bIns="0" anchor="t">
            <a:spAutoFit/>
          </a:bodyPr>
          <a:lstStyle/>
          <a:p>
            <a:pPr algn="l">
              <a:lnSpc>
                <a:spcPct val="106000"/>
              </a:lnSpc>
              <a:spcBef>
                <a:spcPts val="0"/>
              </a:spcBef>
              <a:spcAft>
                <a:spcPts val="0"/>
              </a:spcAft>
            </a:pPr>
            <a:r>
              <a:rPr sz="3300" b="1">
                <a:solidFill>
                  <a:srgbClr val="141424"/>
                </a:solidFill>
                <a:latin typeface="Segoe UI"/>
              </a:rPr>
              <a:t>This is not the first assistant that runs locally</a:t>
            </a:r>
          </a:p>
        </p:txBody>
      </p:sp>
      <p:sp>
        <p:nvSpPr>
          <p:cNvPr id="5" name="TextBox 4"/>
          <p:cNvSpPr txBox="1"/>
          <p:nvPr/>
        </p:nvSpPr>
        <p:spPr>
          <a:xfrm>
            <a:off x="777240" y="2011680"/>
            <a:ext cx="10637215" cy="457200"/>
          </a:xfrm>
          <a:prstGeom prst="rect">
            <a:avLst/>
          </a:prstGeom>
          <a:noFill/>
        </p:spPr>
        <p:txBody>
          <a:bodyPr wrap="square" lIns="0" rIns="0" tIns="0" bIns="0" anchor="t">
            <a:spAutoFit/>
          </a:bodyPr>
          <a:lstStyle/>
          <a:p>
            <a:pPr algn="l">
              <a:lnSpc>
                <a:spcPct val="130000"/>
              </a:lnSpc>
              <a:spcBef>
                <a:spcPts val="0"/>
              </a:spcBef>
              <a:spcAft>
                <a:spcPts val="0"/>
              </a:spcAft>
            </a:pPr>
            <a:r>
              <a:rPr sz="1550" b="0">
                <a:solidFill>
                  <a:srgbClr val="6E6E88"/>
                </a:solidFill>
                <a:latin typeface="Segoe UI"/>
              </a:rPr>
              <a:t>Open-source assistants that keep your code on your machine already exist. Roo Code is the best known, and it is Light Code's own reference — several of its formats are borrowed deliberately.</a:t>
            </a:r>
          </a:p>
        </p:txBody>
      </p:sp>
      <p:sp>
        <p:nvSpPr>
          <p:cNvPr id="6" name="Rounded Rectangle 5"/>
          <p:cNvSpPr/>
          <p:nvPr/>
        </p:nvSpPr>
        <p:spPr>
          <a:xfrm>
            <a:off x="777240" y="2670048"/>
            <a:ext cx="3246120" cy="2286000"/>
          </a:xfrm>
          <a:prstGeom prst="roundRect">
            <a:avLst/>
          </a:prstGeom>
          <a:solidFill>
            <a:srgbClr val="F5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80" y="2944368"/>
            <a:ext cx="365760" cy="5029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3145536"/>
            <a:ext cx="2606039" cy="685800"/>
          </a:xfrm>
          <a:prstGeom prst="rect">
            <a:avLst/>
          </a:prstGeom>
          <a:noFill/>
        </p:spPr>
        <p:txBody>
          <a:bodyPr wrap="square" lIns="0" rIns="0" tIns="0" bIns="0" anchor="t">
            <a:spAutoFit/>
          </a:bodyPr>
          <a:lstStyle/>
          <a:p>
            <a:pPr algn="l">
              <a:lnSpc>
                <a:spcPct val="115000"/>
              </a:lnSpc>
              <a:spcBef>
                <a:spcPts val="0"/>
              </a:spcBef>
              <a:spcAft>
                <a:spcPts val="0"/>
              </a:spcAft>
            </a:pPr>
            <a:r>
              <a:rPr sz="1550" b="1">
                <a:solidFill>
                  <a:srgbClr val="141424"/>
                </a:solidFill>
                <a:latin typeface="Segoe UI"/>
              </a:rPr>
              <a:t>Your code already stays local</a:t>
            </a:r>
          </a:p>
        </p:txBody>
      </p:sp>
      <p:sp>
        <p:nvSpPr>
          <p:cNvPr id="9" name="TextBox 8"/>
          <p:cNvSpPr txBox="1"/>
          <p:nvPr/>
        </p:nvSpPr>
        <p:spPr>
          <a:xfrm>
            <a:off x="1097280" y="3877056"/>
            <a:ext cx="2606039" cy="914400"/>
          </a:xfrm>
          <a:prstGeom prst="rect">
            <a:avLst/>
          </a:prstGeom>
          <a:noFill/>
        </p:spPr>
        <p:txBody>
          <a:bodyPr wrap="square" lIns="0" rIns="0" tIns="0" bIns="0" anchor="t">
            <a:spAutoFit/>
          </a:bodyPr>
          <a:lstStyle/>
          <a:p>
            <a:pPr algn="l">
              <a:lnSpc>
                <a:spcPct val="132000"/>
              </a:lnSpc>
              <a:spcBef>
                <a:spcPts val="0"/>
              </a:spcBef>
              <a:spcAft>
                <a:spcPts val="0"/>
              </a:spcAft>
            </a:pPr>
            <a:r>
              <a:rPr sz="1150" b="0">
                <a:solidFill>
                  <a:srgbClr val="3C3C52"/>
                </a:solidFill>
                <a:latin typeface="Segoe UI"/>
              </a:rPr>
              <a:t>These run in your editor against an endpoint you choose. Nothing is posted to a vendor service you did not pick.</a:t>
            </a:r>
          </a:p>
        </p:txBody>
      </p:sp>
      <p:sp>
        <p:nvSpPr>
          <p:cNvPr id="10" name="Rounded Rectangle 9"/>
          <p:cNvSpPr/>
          <p:nvPr/>
        </p:nvSpPr>
        <p:spPr>
          <a:xfrm>
            <a:off x="4425696" y="2670048"/>
            <a:ext cx="3246120" cy="2286000"/>
          </a:xfrm>
          <a:prstGeom prst="roundRect">
            <a:avLst/>
          </a:prstGeom>
          <a:solidFill>
            <a:srgbClr val="F5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45736" y="2944368"/>
            <a:ext cx="365760" cy="5029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45736" y="3145536"/>
            <a:ext cx="2606039" cy="685800"/>
          </a:xfrm>
          <a:prstGeom prst="rect">
            <a:avLst/>
          </a:prstGeom>
          <a:noFill/>
        </p:spPr>
        <p:txBody>
          <a:bodyPr wrap="square" lIns="0" rIns="0" tIns="0" bIns="0" anchor="t">
            <a:spAutoFit/>
          </a:bodyPr>
          <a:lstStyle/>
          <a:p>
            <a:pPr algn="l">
              <a:lnSpc>
                <a:spcPct val="115000"/>
              </a:lnSpc>
              <a:spcBef>
                <a:spcPts val="0"/>
              </a:spcBef>
              <a:spcAft>
                <a:spcPts val="0"/>
              </a:spcAft>
            </a:pPr>
            <a:r>
              <a:rPr sz="1550" b="1">
                <a:solidFill>
                  <a:srgbClr val="141424"/>
                </a:solidFill>
                <a:latin typeface="Segoe UI"/>
              </a:rPr>
              <a:t>They already ask before acting</a:t>
            </a:r>
          </a:p>
        </p:txBody>
      </p:sp>
      <p:sp>
        <p:nvSpPr>
          <p:cNvPr id="13" name="TextBox 12"/>
          <p:cNvSpPr txBox="1"/>
          <p:nvPr/>
        </p:nvSpPr>
        <p:spPr>
          <a:xfrm>
            <a:off x="4745736" y="3877056"/>
            <a:ext cx="2606039" cy="914400"/>
          </a:xfrm>
          <a:prstGeom prst="rect">
            <a:avLst/>
          </a:prstGeom>
          <a:noFill/>
        </p:spPr>
        <p:txBody>
          <a:bodyPr wrap="square" lIns="0" rIns="0" tIns="0" bIns="0" anchor="t">
            <a:spAutoFit/>
          </a:bodyPr>
          <a:lstStyle/>
          <a:p>
            <a:pPr algn="l">
              <a:lnSpc>
                <a:spcPct val="132000"/>
              </a:lnSpc>
              <a:spcBef>
                <a:spcPts val="0"/>
              </a:spcBef>
              <a:spcAft>
                <a:spcPts val="0"/>
              </a:spcAft>
            </a:pPr>
            <a:r>
              <a:rPr sz="1150" b="0">
                <a:solidFill>
                  <a:srgbClr val="3C3C52"/>
                </a:solidFill>
                <a:latin typeface="Segoe UI"/>
              </a:rPr>
              <a:t>An approval step before an edit or a command is standard. Light Code did not invent it, and does not claim to.</a:t>
            </a:r>
          </a:p>
        </p:txBody>
      </p:sp>
      <p:sp>
        <p:nvSpPr>
          <p:cNvPr id="14" name="Rounded Rectangle 13"/>
          <p:cNvSpPr/>
          <p:nvPr/>
        </p:nvSpPr>
        <p:spPr>
          <a:xfrm>
            <a:off x="8074152" y="2670048"/>
            <a:ext cx="3246120" cy="2286000"/>
          </a:xfrm>
          <a:prstGeom prst="roundRect">
            <a:avLst/>
          </a:prstGeom>
          <a:solidFill>
            <a:srgbClr val="F5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94192" y="2944368"/>
            <a:ext cx="365760" cy="5029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94192" y="3145536"/>
            <a:ext cx="2606039" cy="685800"/>
          </a:xfrm>
          <a:prstGeom prst="rect">
            <a:avLst/>
          </a:prstGeom>
          <a:noFill/>
        </p:spPr>
        <p:txBody>
          <a:bodyPr wrap="square" lIns="0" rIns="0" tIns="0" bIns="0" anchor="t">
            <a:spAutoFit/>
          </a:bodyPr>
          <a:lstStyle/>
          <a:p>
            <a:pPr algn="l">
              <a:lnSpc>
                <a:spcPct val="115000"/>
              </a:lnSpc>
              <a:spcBef>
                <a:spcPts val="0"/>
              </a:spcBef>
              <a:spcAft>
                <a:spcPts val="0"/>
              </a:spcAft>
            </a:pPr>
            <a:r>
              <a:rPr sz="1550" b="1">
                <a:solidFill>
                  <a:srgbClr val="141424"/>
                </a:solidFill>
                <a:latin typeface="Segoe UI"/>
              </a:rPr>
              <a:t>You already bring your own model</a:t>
            </a:r>
          </a:p>
        </p:txBody>
      </p:sp>
      <p:sp>
        <p:nvSpPr>
          <p:cNvPr id="17" name="TextBox 16"/>
          <p:cNvSpPr txBox="1"/>
          <p:nvPr/>
        </p:nvSpPr>
        <p:spPr>
          <a:xfrm>
            <a:off x="8394192" y="3877056"/>
            <a:ext cx="2606039" cy="914400"/>
          </a:xfrm>
          <a:prstGeom prst="rect">
            <a:avLst/>
          </a:prstGeom>
          <a:noFill/>
        </p:spPr>
        <p:txBody>
          <a:bodyPr wrap="square" lIns="0" rIns="0" tIns="0" bIns="0" anchor="t">
            <a:spAutoFit/>
          </a:bodyPr>
          <a:lstStyle/>
          <a:p>
            <a:pPr algn="l">
              <a:lnSpc>
                <a:spcPct val="132000"/>
              </a:lnSpc>
              <a:spcBef>
                <a:spcPts val="0"/>
              </a:spcBef>
              <a:spcAft>
                <a:spcPts val="0"/>
              </a:spcAft>
            </a:pPr>
            <a:r>
              <a:rPr sz="1150" b="0">
                <a:solidFill>
                  <a:srgbClr val="3C3C52"/>
                </a:solidFill>
                <a:latin typeface="Segoe UI"/>
              </a:rPr>
              <a:t>A base URL and an API key gets most of them pointed at an internal gateway.</a:t>
            </a:r>
          </a:p>
        </p:txBody>
      </p:sp>
      <p:sp>
        <p:nvSpPr>
          <p:cNvPr id="18" name="TextBox 17"/>
          <p:cNvSpPr txBox="1"/>
          <p:nvPr/>
        </p:nvSpPr>
        <p:spPr>
          <a:xfrm>
            <a:off x="777240" y="5440680"/>
            <a:ext cx="10637215" cy="548640"/>
          </a:xfrm>
          <a:prstGeom prst="rect">
            <a:avLst/>
          </a:prstGeom>
          <a:noFill/>
        </p:spPr>
        <p:txBody>
          <a:bodyPr wrap="square" lIns="0" rIns="0" tIns="0" bIns="0" anchor="t">
            <a:spAutoFit/>
          </a:bodyPr>
          <a:lstStyle/>
          <a:p>
            <a:pPr algn="l">
              <a:lnSpc>
                <a:spcPct val="130000"/>
              </a:lnSpc>
              <a:spcBef>
                <a:spcPts val="0"/>
              </a:spcBef>
              <a:spcAft>
                <a:spcPts val="0"/>
              </a:spcAft>
            </a:pPr>
            <a:r>
              <a:rPr sz="1700" b="1">
                <a:solidFill>
                  <a:srgbClr val="4338CA"/>
                </a:solidFill>
                <a:latin typeface="Segoe UI"/>
              </a:rPr>
              <a:t>So the question is not whether a local assistant exists. It is whether one fits our constraints.</a:t>
            </a:r>
          </a:p>
        </p:txBody>
      </p:sp>
      <p:sp>
        <p:nvSpPr>
          <p:cNvPr id="19" name="TextBox 18"/>
          <p:cNvSpPr txBox="1"/>
          <p:nvPr/>
        </p:nvSpPr>
        <p:spPr>
          <a:xfrm>
            <a:off x="777240" y="6455664"/>
            <a:ext cx="3657600" cy="274320"/>
          </a:xfrm>
          <a:prstGeom prst="rect">
            <a:avLst/>
          </a:prstGeom>
          <a:noFill/>
        </p:spPr>
        <p:txBody>
          <a:bodyPr wrap="square" lIns="0" rIns="0" tIns="0" bIns="0" anchor="t">
            <a:spAutoFit/>
          </a:bodyPr>
          <a:lstStyle/>
          <a:p>
            <a:pPr algn="l">
              <a:spcBef>
                <a:spcPts val="0"/>
              </a:spcBef>
              <a:spcAft>
                <a:spcPts val="0"/>
              </a:spcAft>
            </a:pPr>
            <a:r>
              <a:rPr sz="1000" b="0">
                <a:solidFill>
                  <a:srgbClr val="6E6E88"/>
                </a:solidFill>
                <a:latin typeface="Segoe UI"/>
              </a:rPr>
              <a:t>Light Code</a:t>
            </a:r>
          </a:p>
        </p:txBody>
      </p:sp>
      <p:sp>
        <p:nvSpPr>
          <p:cNvPr id="20" name="TextBox 19"/>
          <p:cNvSpPr txBox="1"/>
          <p:nvPr/>
        </p:nvSpPr>
        <p:spPr>
          <a:xfrm>
            <a:off x="10500055" y="6455664"/>
            <a:ext cx="914400" cy="274320"/>
          </a:xfrm>
          <a:prstGeom prst="rect">
            <a:avLst/>
          </a:prstGeom>
          <a:noFill/>
        </p:spPr>
        <p:txBody>
          <a:bodyPr wrap="square" lIns="0" rIns="0" tIns="0" bIns="0" anchor="t">
            <a:spAutoFit/>
          </a:bodyPr>
          <a:lstStyle/>
          <a:p>
            <a:pPr algn="r">
              <a:spcBef>
                <a:spcPts val="0"/>
              </a:spcBef>
              <a:spcAft>
                <a:spcPts val="0"/>
              </a:spcAft>
            </a:pPr>
            <a:r>
              <a:rPr sz="1000" b="0">
                <a:solidFill>
                  <a:srgbClr val="6E6E88"/>
                </a:solidFill>
                <a:latin typeface="Segoe U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77240" y="566928"/>
            <a:ext cx="566928" cy="6858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86384"/>
            <a:ext cx="10637215" cy="365760"/>
          </a:xfrm>
          <a:prstGeom prst="rect">
            <a:avLst/>
          </a:prstGeom>
          <a:noFill/>
        </p:spPr>
        <p:txBody>
          <a:bodyPr wrap="square" lIns="0" rIns="0" tIns="0" bIns="0" anchor="t">
            <a:spAutoFit/>
          </a:bodyPr>
          <a:lstStyle/>
          <a:p>
            <a:pPr algn="l">
              <a:spcBef>
                <a:spcPts val="0"/>
              </a:spcBef>
              <a:spcAft>
                <a:spcPts val="0"/>
              </a:spcAft>
            </a:pPr>
            <a:r>
              <a:rPr sz="1250" b="1">
                <a:solidFill>
                  <a:srgbClr val="A855F7"/>
                </a:solidFill>
                <a:latin typeface="Segoe UI"/>
              </a:rPr>
              <a:t>THE REAL GAP</a:t>
            </a:r>
          </a:p>
        </p:txBody>
      </p:sp>
      <p:sp>
        <p:nvSpPr>
          <p:cNvPr id="4" name="TextBox 3"/>
          <p:cNvSpPr txBox="1"/>
          <p:nvPr/>
        </p:nvSpPr>
        <p:spPr>
          <a:xfrm>
            <a:off x="777240" y="1188720"/>
            <a:ext cx="10637215" cy="1143000"/>
          </a:xfrm>
          <a:prstGeom prst="rect">
            <a:avLst/>
          </a:prstGeom>
          <a:noFill/>
        </p:spPr>
        <p:txBody>
          <a:bodyPr wrap="square" lIns="0" rIns="0" tIns="0" bIns="0" anchor="t">
            <a:spAutoFit/>
          </a:bodyPr>
          <a:lstStyle/>
          <a:p>
            <a:pPr algn="l">
              <a:lnSpc>
                <a:spcPct val="106000"/>
              </a:lnSpc>
              <a:spcBef>
                <a:spcPts val="0"/>
              </a:spcBef>
              <a:spcAft>
                <a:spcPts val="0"/>
              </a:spcAft>
            </a:pPr>
            <a:r>
              <a:rPr sz="3300" b="1">
                <a:solidFill>
                  <a:srgbClr val="141424"/>
                </a:solidFill>
                <a:latin typeface="Segoe UI"/>
              </a:rPr>
              <a:t>Five things that were still missing</a:t>
            </a:r>
          </a:p>
        </p:txBody>
      </p:sp>
      <p:sp>
        <p:nvSpPr>
          <p:cNvPr id="5" name="Rectangle 4"/>
          <p:cNvSpPr/>
          <p:nvPr/>
        </p:nvSpPr>
        <p:spPr>
          <a:xfrm>
            <a:off x="777240" y="2478024"/>
            <a:ext cx="50292" cy="475488"/>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441448"/>
            <a:ext cx="3977639" cy="640080"/>
          </a:xfrm>
          <a:prstGeom prst="rect">
            <a:avLst/>
          </a:prstGeom>
          <a:noFill/>
        </p:spPr>
        <p:txBody>
          <a:bodyPr wrap="square" lIns="0" rIns="0" tIns="0" bIns="0" anchor="t">
            <a:spAutoFit/>
          </a:bodyPr>
          <a:lstStyle/>
          <a:p>
            <a:pPr algn="l">
              <a:lnSpc>
                <a:spcPct val="115000"/>
              </a:lnSpc>
              <a:spcBef>
                <a:spcPts val="0"/>
              </a:spcBef>
              <a:spcAft>
                <a:spcPts val="0"/>
              </a:spcAft>
            </a:pPr>
            <a:r>
              <a:rPr sz="1500" b="1">
                <a:solidFill>
                  <a:srgbClr val="141424"/>
                </a:solidFill>
                <a:latin typeface="Segoe UI"/>
              </a:rPr>
              <a:t>Authentication stops at an API key</a:t>
            </a:r>
          </a:p>
        </p:txBody>
      </p:sp>
      <p:sp>
        <p:nvSpPr>
          <p:cNvPr id="7" name="TextBox 6"/>
          <p:cNvSpPr txBox="1"/>
          <p:nvPr/>
        </p:nvSpPr>
        <p:spPr>
          <a:xfrm>
            <a:off x="5257799" y="2441448"/>
            <a:ext cx="6156655" cy="548640"/>
          </a:xfrm>
          <a:prstGeom prst="rect">
            <a:avLst/>
          </a:prstGeom>
          <a:noFill/>
        </p:spPr>
        <p:txBody>
          <a:bodyPr wrap="square" lIns="0" rIns="0" tIns="0" bIns="0" anchor="t">
            <a:spAutoFit/>
          </a:bodyPr>
          <a:lstStyle/>
          <a:p>
            <a:pPr algn="l">
              <a:lnSpc>
                <a:spcPct val="135000"/>
              </a:lnSpc>
              <a:spcBef>
                <a:spcPts val="0"/>
              </a:spcBef>
              <a:spcAft>
                <a:spcPts val="0"/>
              </a:spcAft>
            </a:pPr>
            <a:r>
              <a:rPr sz="1200" b="0">
                <a:solidFill>
                  <a:srgbClr val="3C3C52"/>
                </a:solidFill>
                <a:latin typeface="Segoe UI"/>
              </a:rPr>
              <a:t>A base URL and a key is where most stop. No mutual TLS, no client certificate from a Windows PKI, no OAuth client-credentials exchange, no private CA.</a:t>
            </a:r>
          </a:p>
        </p:txBody>
      </p:sp>
      <p:sp>
        <p:nvSpPr>
          <p:cNvPr id="8" name="Rectangle 7"/>
          <p:cNvSpPr/>
          <p:nvPr/>
        </p:nvSpPr>
        <p:spPr>
          <a:xfrm>
            <a:off x="777240" y="3209544"/>
            <a:ext cx="50292" cy="475488"/>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172968"/>
            <a:ext cx="3977639" cy="640080"/>
          </a:xfrm>
          <a:prstGeom prst="rect">
            <a:avLst/>
          </a:prstGeom>
          <a:noFill/>
        </p:spPr>
        <p:txBody>
          <a:bodyPr wrap="square" lIns="0" rIns="0" tIns="0" bIns="0" anchor="t">
            <a:spAutoFit/>
          </a:bodyPr>
          <a:lstStyle/>
          <a:p>
            <a:pPr algn="l">
              <a:lnSpc>
                <a:spcPct val="115000"/>
              </a:lnSpc>
              <a:spcBef>
                <a:spcPts val="0"/>
              </a:spcBef>
              <a:spcAft>
                <a:spcPts val="0"/>
              </a:spcAft>
            </a:pPr>
            <a:r>
              <a:rPr sz="1500" b="1">
                <a:solidFill>
                  <a:srgbClr val="141424"/>
                </a:solidFill>
                <a:latin typeface="Segoe UI"/>
              </a:rPr>
              <a:t>Analytics are usually opt-out</a:t>
            </a:r>
          </a:p>
        </p:txBody>
      </p:sp>
      <p:sp>
        <p:nvSpPr>
          <p:cNvPr id="10" name="TextBox 9"/>
          <p:cNvSpPr txBox="1"/>
          <p:nvPr/>
        </p:nvSpPr>
        <p:spPr>
          <a:xfrm>
            <a:off x="5257799" y="3172968"/>
            <a:ext cx="6156655" cy="548640"/>
          </a:xfrm>
          <a:prstGeom prst="rect">
            <a:avLst/>
          </a:prstGeom>
          <a:noFill/>
        </p:spPr>
        <p:txBody>
          <a:bodyPr wrap="square" lIns="0" rIns="0" tIns="0" bIns="0" anchor="t">
            <a:spAutoFit/>
          </a:bodyPr>
          <a:lstStyle/>
          <a:p>
            <a:pPr algn="l">
              <a:lnSpc>
                <a:spcPct val="135000"/>
              </a:lnSpc>
              <a:spcBef>
                <a:spcPts val="0"/>
              </a:spcBef>
              <a:spcAft>
                <a:spcPts val="0"/>
              </a:spcAft>
            </a:pPr>
            <a:r>
              <a:rPr sz="1200" b="0">
                <a:solidFill>
                  <a:srgbClr val="3C3C52"/>
                </a:solidFill>
                <a:latin typeface="Segoe UI"/>
              </a:rPr>
              <a:t>Light Code has none to opt out of, and a build fails if the packaged output so much as names an unexpected host.</a:t>
            </a:r>
          </a:p>
        </p:txBody>
      </p:sp>
      <p:sp>
        <p:nvSpPr>
          <p:cNvPr id="11" name="Rectangle 10"/>
          <p:cNvSpPr/>
          <p:nvPr/>
        </p:nvSpPr>
        <p:spPr>
          <a:xfrm>
            <a:off x="777240" y="3941064"/>
            <a:ext cx="50292" cy="475488"/>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904488"/>
            <a:ext cx="3977639" cy="640080"/>
          </a:xfrm>
          <a:prstGeom prst="rect">
            <a:avLst/>
          </a:prstGeom>
          <a:noFill/>
        </p:spPr>
        <p:txBody>
          <a:bodyPr wrap="square" lIns="0" rIns="0" tIns="0" bIns="0" anchor="t">
            <a:spAutoFit/>
          </a:bodyPr>
          <a:lstStyle/>
          <a:p>
            <a:pPr algn="l">
              <a:lnSpc>
                <a:spcPct val="115000"/>
              </a:lnSpc>
              <a:spcBef>
                <a:spcPts val="0"/>
              </a:spcBef>
              <a:spcAft>
                <a:spcPts val="0"/>
              </a:spcAft>
            </a:pPr>
            <a:r>
              <a:rPr sz="1500" b="1">
                <a:solidFill>
                  <a:srgbClr val="141424"/>
                </a:solidFill>
                <a:latin typeface="Segoe UI"/>
              </a:rPr>
              <a:t>Auto-approve matches by prefix</a:t>
            </a:r>
          </a:p>
        </p:txBody>
      </p:sp>
      <p:sp>
        <p:nvSpPr>
          <p:cNvPr id="13" name="TextBox 12"/>
          <p:cNvSpPr txBox="1"/>
          <p:nvPr/>
        </p:nvSpPr>
        <p:spPr>
          <a:xfrm>
            <a:off x="5257799" y="3904488"/>
            <a:ext cx="6156655" cy="548640"/>
          </a:xfrm>
          <a:prstGeom prst="rect">
            <a:avLst/>
          </a:prstGeom>
          <a:noFill/>
        </p:spPr>
        <p:txBody>
          <a:bodyPr wrap="square" lIns="0" rIns="0" tIns="0" bIns="0" anchor="t">
            <a:spAutoFit/>
          </a:bodyPr>
          <a:lstStyle/>
          <a:p>
            <a:pPr algn="l">
              <a:lnSpc>
                <a:spcPct val="135000"/>
              </a:lnSpc>
              <a:spcBef>
                <a:spcPts val="0"/>
              </a:spcBef>
              <a:spcAft>
                <a:spcPts val="0"/>
              </a:spcAft>
            </a:pPr>
            <a:r>
              <a:rPr sz="1200" b="0">
                <a:solidFill>
                  <a:srgbClr val="3C3C52"/>
                </a:solidFill>
                <a:latin typeface="Segoe UI"/>
              </a:rPr>
              <a:t>A prefix allowlist can be widened by chaining a second command onto an approved one. Byte-for-byte matching cannot be.</a:t>
            </a:r>
          </a:p>
        </p:txBody>
      </p:sp>
      <p:sp>
        <p:nvSpPr>
          <p:cNvPr id="14" name="Rectangle 13"/>
          <p:cNvSpPr/>
          <p:nvPr/>
        </p:nvSpPr>
        <p:spPr>
          <a:xfrm>
            <a:off x="777240" y="4672584"/>
            <a:ext cx="50292" cy="475488"/>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636008"/>
            <a:ext cx="3977639" cy="640080"/>
          </a:xfrm>
          <a:prstGeom prst="rect">
            <a:avLst/>
          </a:prstGeom>
          <a:noFill/>
        </p:spPr>
        <p:txBody>
          <a:bodyPr wrap="square" lIns="0" rIns="0" tIns="0" bIns="0" anchor="t">
            <a:spAutoFit/>
          </a:bodyPr>
          <a:lstStyle/>
          <a:p>
            <a:pPr algn="l">
              <a:lnSpc>
                <a:spcPct val="115000"/>
              </a:lnSpc>
              <a:spcBef>
                <a:spcPts val="0"/>
              </a:spcBef>
              <a:spcAft>
                <a:spcPts val="0"/>
              </a:spcAft>
            </a:pPr>
            <a:r>
              <a:rPr sz="1500" b="1">
                <a:solidFill>
                  <a:srgbClr val="141424"/>
                </a:solidFill>
                <a:latin typeface="Segoe UI"/>
              </a:rPr>
              <a:t>Edits are matched fuzzily</a:t>
            </a:r>
          </a:p>
        </p:txBody>
      </p:sp>
      <p:sp>
        <p:nvSpPr>
          <p:cNvPr id="16" name="TextBox 15"/>
          <p:cNvSpPr txBox="1"/>
          <p:nvPr/>
        </p:nvSpPr>
        <p:spPr>
          <a:xfrm>
            <a:off x="5257799" y="4636008"/>
            <a:ext cx="6156655" cy="548640"/>
          </a:xfrm>
          <a:prstGeom prst="rect">
            <a:avLst/>
          </a:prstGeom>
          <a:noFill/>
        </p:spPr>
        <p:txBody>
          <a:bodyPr wrap="square" lIns="0" rIns="0" tIns="0" bIns="0" anchor="t">
            <a:spAutoFit/>
          </a:bodyPr>
          <a:lstStyle/>
          <a:p>
            <a:pPr algn="l">
              <a:lnSpc>
                <a:spcPct val="135000"/>
              </a:lnSpc>
              <a:spcBef>
                <a:spcPts val="0"/>
              </a:spcBef>
              <a:spcAft>
                <a:spcPts val="0"/>
              </a:spcAft>
            </a:pPr>
            <a:r>
              <a:rPr sz="1200" b="0">
                <a:solidFill>
                  <a:srgbClr val="3C3C52"/>
                </a:solidFill>
                <a:latin typeface="Segoe UI"/>
              </a:rPr>
              <a:t>A similarity threshold can apply a change in the wrong place and report success. Deterministic matching refuses and asks again instead.</a:t>
            </a:r>
          </a:p>
        </p:txBody>
      </p:sp>
      <p:sp>
        <p:nvSpPr>
          <p:cNvPr id="17" name="Rectangle 16"/>
          <p:cNvSpPr/>
          <p:nvPr/>
        </p:nvSpPr>
        <p:spPr>
          <a:xfrm>
            <a:off x="777240" y="5404104"/>
            <a:ext cx="50292" cy="475488"/>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5367528"/>
            <a:ext cx="3977639" cy="640080"/>
          </a:xfrm>
          <a:prstGeom prst="rect">
            <a:avLst/>
          </a:prstGeom>
          <a:noFill/>
        </p:spPr>
        <p:txBody>
          <a:bodyPr wrap="square" lIns="0" rIns="0" tIns="0" bIns="0" anchor="t">
            <a:spAutoFit/>
          </a:bodyPr>
          <a:lstStyle/>
          <a:p>
            <a:pPr algn="l">
              <a:lnSpc>
                <a:spcPct val="115000"/>
              </a:lnSpc>
              <a:spcBef>
                <a:spcPts val="0"/>
              </a:spcBef>
              <a:spcAft>
                <a:spcPts val="0"/>
              </a:spcAft>
            </a:pPr>
            <a:r>
              <a:rPr sz="1500" b="1">
                <a:solidFill>
                  <a:srgbClr val="141424"/>
                </a:solidFill>
                <a:latin typeface="Segoe UI"/>
              </a:rPr>
              <a:t>The closest match is archived</a:t>
            </a:r>
          </a:p>
        </p:txBody>
      </p:sp>
      <p:sp>
        <p:nvSpPr>
          <p:cNvPr id="19" name="TextBox 18"/>
          <p:cNvSpPr txBox="1"/>
          <p:nvPr/>
        </p:nvSpPr>
        <p:spPr>
          <a:xfrm>
            <a:off x="5257799" y="5367528"/>
            <a:ext cx="6156655" cy="548640"/>
          </a:xfrm>
          <a:prstGeom prst="rect">
            <a:avLst/>
          </a:prstGeom>
          <a:noFill/>
        </p:spPr>
        <p:txBody>
          <a:bodyPr wrap="square" lIns="0" rIns="0" tIns="0" bIns="0" anchor="t">
            <a:spAutoFit/>
          </a:bodyPr>
          <a:lstStyle/>
          <a:p>
            <a:pPr algn="l">
              <a:lnSpc>
                <a:spcPct val="135000"/>
              </a:lnSpc>
              <a:spcBef>
                <a:spcPts val="0"/>
              </a:spcBef>
              <a:spcAft>
                <a:spcPts val="0"/>
              </a:spcAft>
            </a:pPr>
            <a:r>
              <a:rPr sz="1200" b="0">
                <a:solidFill>
                  <a:srgbClr val="3C3C52"/>
                </a:solidFill>
                <a:latin typeface="Segoe UI"/>
              </a:rPr>
              <a:t>Roo Code's final release was v3.54.0, archived in May 2026. No upstream fixes are coming for anything found after that.</a:t>
            </a:r>
          </a:p>
        </p:txBody>
      </p:sp>
      <p:sp>
        <p:nvSpPr>
          <p:cNvPr id="20" name="TextBox 19"/>
          <p:cNvSpPr txBox="1"/>
          <p:nvPr/>
        </p:nvSpPr>
        <p:spPr>
          <a:xfrm>
            <a:off x="777240" y="6455664"/>
            <a:ext cx="3657600" cy="274320"/>
          </a:xfrm>
          <a:prstGeom prst="rect">
            <a:avLst/>
          </a:prstGeom>
          <a:noFill/>
        </p:spPr>
        <p:txBody>
          <a:bodyPr wrap="square" lIns="0" rIns="0" tIns="0" bIns="0" anchor="t">
            <a:spAutoFit/>
          </a:bodyPr>
          <a:lstStyle/>
          <a:p>
            <a:pPr algn="l">
              <a:spcBef>
                <a:spcPts val="0"/>
              </a:spcBef>
              <a:spcAft>
                <a:spcPts val="0"/>
              </a:spcAft>
            </a:pPr>
            <a:r>
              <a:rPr sz="1000" b="0">
                <a:solidFill>
                  <a:srgbClr val="6E6E88"/>
                </a:solidFill>
                <a:latin typeface="Segoe UI"/>
              </a:rPr>
              <a:t>Light Code</a:t>
            </a:r>
          </a:p>
        </p:txBody>
      </p:sp>
      <p:sp>
        <p:nvSpPr>
          <p:cNvPr id="21" name="TextBox 20"/>
          <p:cNvSpPr txBox="1"/>
          <p:nvPr/>
        </p:nvSpPr>
        <p:spPr>
          <a:xfrm>
            <a:off x="10500055" y="6455664"/>
            <a:ext cx="914400" cy="274320"/>
          </a:xfrm>
          <a:prstGeom prst="rect">
            <a:avLst/>
          </a:prstGeom>
          <a:noFill/>
        </p:spPr>
        <p:txBody>
          <a:bodyPr wrap="square" lIns="0" rIns="0" tIns="0" bIns="0" anchor="t">
            <a:spAutoFit/>
          </a:bodyPr>
          <a:lstStyle/>
          <a:p>
            <a:pPr algn="r">
              <a:spcBef>
                <a:spcPts val="0"/>
              </a:spcBef>
              <a:spcAft>
                <a:spcPts val="0"/>
              </a:spcAft>
            </a:pPr>
            <a:r>
              <a:rPr sz="1000" b="0">
                <a:solidFill>
                  <a:srgbClr val="6E6E88"/>
                </a:solidFill>
                <a:latin typeface="Segoe U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77240" y="566928"/>
            <a:ext cx="566928" cy="6858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86384"/>
            <a:ext cx="10637215" cy="365760"/>
          </a:xfrm>
          <a:prstGeom prst="rect">
            <a:avLst/>
          </a:prstGeom>
          <a:noFill/>
        </p:spPr>
        <p:txBody>
          <a:bodyPr wrap="square" lIns="0" rIns="0" tIns="0" bIns="0" anchor="t">
            <a:spAutoFit/>
          </a:bodyPr>
          <a:lstStyle/>
          <a:p>
            <a:pPr algn="l">
              <a:spcBef>
                <a:spcPts val="0"/>
              </a:spcBef>
              <a:spcAft>
                <a:spcPts val="0"/>
              </a:spcAft>
            </a:pPr>
            <a:r>
              <a:rPr sz="1250" b="1">
                <a:solidFill>
                  <a:srgbClr val="A855F7"/>
                </a:solidFill>
                <a:latin typeface="Segoe UI"/>
              </a:rPr>
              <a:t>IN ONE LINE</a:t>
            </a:r>
          </a:p>
        </p:txBody>
      </p:sp>
      <p:sp>
        <p:nvSpPr>
          <p:cNvPr id="4" name="TextBox 3"/>
          <p:cNvSpPr txBox="1"/>
          <p:nvPr/>
        </p:nvSpPr>
        <p:spPr>
          <a:xfrm>
            <a:off x="777240" y="1188720"/>
            <a:ext cx="10637215" cy="1143000"/>
          </a:xfrm>
          <a:prstGeom prst="rect">
            <a:avLst/>
          </a:prstGeom>
          <a:noFill/>
        </p:spPr>
        <p:txBody>
          <a:bodyPr wrap="square" lIns="0" rIns="0" tIns="0" bIns="0" anchor="t">
            <a:spAutoFit/>
          </a:bodyPr>
          <a:lstStyle/>
          <a:p>
            <a:pPr algn="l">
              <a:lnSpc>
                <a:spcPct val="106000"/>
              </a:lnSpc>
              <a:spcBef>
                <a:spcPts val="0"/>
              </a:spcBef>
              <a:spcAft>
                <a:spcPts val="0"/>
              </a:spcAft>
            </a:pPr>
            <a:r>
              <a:rPr sz="3300" b="1">
                <a:solidFill>
                  <a:srgbClr val="141424"/>
                </a:solidFill>
                <a:latin typeface="Segoe UI"/>
              </a:rPr>
              <a:t>A minimal agentic coding assistant — and nothing else</a:t>
            </a:r>
          </a:p>
        </p:txBody>
      </p:sp>
      <p:sp>
        <p:nvSpPr>
          <p:cNvPr id="5" name="TextBox 4"/>
          <p:cNvSpPr txBox="1"/>
          <p:nvPr/>
        </p:nvSpPr>
        <p:spPr>
          <a:xfrm>
            <a:off x="777240" y="2487168"/>
            <a:ext cx="10241280" cy="914400"/>
          </a:xfrm>
          <a:prstGeom prst="rect">
            <a:avLst/>
          </a:prstGeom>
          <a:noFill/>
        </p:spPr>
        <p:txBody>
          <a:bodyPr wrap="square" lIns="0" rIns="0" tIns="0" bIns="0" anchor="t">
            <a:spAutoFit/>
          </a:bodyPr>
          <a:lstStyle/>
          <a:p>
            <a:pPr algn="l">
              <a:lnSpc>
                <a:spcPct val="135000"/>
              </a:lnSpc>
              <a:spcBef>
                <a:spcPts val="0"/>
              </a:spcBef>
              <a:spcAft>
                <a:spcPts val="0"/>
              </a:spcAft>
            </a:pPr>
            <a:r>
              <a:rPr sz="1900" b="0">
                <a:solidFill>
                  <a:srgbClr val="3C3C52"/>
                </a:solidFill>
                <a:latin typeface="Segoe UI"/>
              </a:rPr>
              <a:t>Chat in the sidebar. An agent that reads, searches, edits and runs commands — one step at a time, with your approval between steps.</a:t>
            </a:r>
          </a:p>
        </p:txBody>
      </p:sp>
      <p:sp>
        <p:nvSpPr>
          <p:cNvPr id="6" name="Rectangle 5"/>
          <p:cNvSpPr/>
          <p:nvPr/>
        </p:nvSpPr>
        <p:spPr>
          <a:xfrm>
            <a:off x="777240" y="3977639"/>
            <a:ext cx="50292" cy="141732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3977639"/>
            <a:ext cx="2148840" cy="548640"/>
          </a:xfrm>
          <a:prstGeom prst="rect">
            <a:avLst/>
          </a:prstGeom>
          <a:noFill/>
        </p:spPr>
        <p:txBody>
          <a:bodyPr wrap="square" lIns="0" rIns="0" tIns="0" bIns="0" anchor="t">
            <a:spAutoFit/>
          </a:bodyPr>
          <a:lstStyle/>
          <a:p>
            <a:pPr algn="l">
              <a:lnSpc>
                <a:spcPct val="115000"/>
              </a:lnSpc>
              <a:spcBef>
                <a:spcPts val="0"/>
              </a:spcBef>
              <a:spcAft>
                <a:spcPts val="0"/>
              </a:spcAft>
            </a:pPr>
            <a:r>
              <a:rPr sz="1550" b="1">
                <a:solidFill>
                  <a:srgbClr val="141424"/>
                </a:solidFill>
                <a:latin typeface="Segoe UI"/>
              </a:rPr>
              <a:t>Contacts nothing</a:t>
            </a:r>
          </a:p>
        </p:txBody>
      </p:sp>
      <p:sp>
        <p:nvSpPr>
          <p:cNvPr id="8" name="TextBox 7"/>
          <p:cNvSpPr txBox="1"/>
          <p:nvPr/>
        </p:nvSpPr>
        <p:spPr>
          <a:xfrm>
            <a:off x="1033271" y="4590288"/>
            <a:ext cx="2194560" cy="1005840"/>
          </a:xfrm>
          <a:prstGeom prst="rect">
            <a:avLst/>
          </a:prstGeom>
          <a:noFill/>
        </p:spPr>
        <p:txBody>
          <a:bodyPr wrap="square" lIns="0" rIns="0" tIns="0" bIns="0" anchor="t">
            <a:spAutoFit/>
          </a:bodyPr>
          <a:lstStyle/>
          <a:p>
            <a:pPr algn="l">
              <a:lnSpc>
                <a:spcPct val="130000"/>
              </a:lnSpc>
              <a:spcBef>
                <a:spcPts val="0"/>
              </a:spcBef>
              <a:spcAft>
                <a:spcPts val="0"/>
              </a:spcAft>
            </a:pPr>
            <a:r>
              <a:rPr sz="1200" b="0">
                <a:solidFill>
                  <a:srgbClr val="6E6E88"/>
                </a:solidFill>
                <a:latin typeface="Segoe UI"/>
              </a:rPr>
              <a:t>A fresh install makes no network call until you configure a provider.</a:t>
            </a:r>
          </a:p>
        </p:txBody>
      </p:sp>
      <p:sp>
        <p:nvSpPr>
          <p:cNvPr id="9" name="Rectangle 8"/>
          <p:cNvSpPr/>
          <p:nvPr/>
        </p:nvSpPr>
        <p:spPr>
          <a:xfrm>
            <a:off x="3447288" y="3977639"/>
            <a:ext cx="50292" cy="141732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3320" y="3977639"/>
            <a:ext cx="2148840" cy="548640"/>
          </a:xfrm>
          <a:prstGeom prst="rect">
            <a:avLst/>
          </a:prstGeom>
          <a:noFill/>
        </p:spPr>
        <p:txBody>
          <a:bodyPr wrap="square" lIns="0" rIns="0" tIns="0" bIns="0" anchor="t">
            <a:spAutoFit/>
          </a:bodyPr>
          <a:lstStyle/>
          <a:p>
            <a:pPr algn="l">
              <a:lnSpc>
                <a:spcPct val="115000"/>
              </a:lnSpc>
              <a:spcBef>
                <a:spcPts val="0"/>
              </a:spcBef>
              <a:spcAft>
                <a:spcPts val="0"/>
              </a:spcAft>
            </a:pPr>
            <a:r>
              <a:rPr sz="1550" b="1">
                <a:solidFill>
                  <a:srgbClr val="141424"/>
                </a:solidFill>
                <a:latin typeface="Segoe UI"/>
              </a:rPr>
              <a:t>Runs where you do</a:t>
            </a:r>
          </a:p>
        </p:txBody>
      </p:sp>
      <p:sp>
        <p:nvSpPr>
          <p:cNvPr id="11" name="TextBox 10"/>
          <p:cNvSpPr txBox="1"/>
          <p:nvPr/>
        </p:nvSpPr>
        <p:spPr>
          <a:xfrm>
            <a:off x="3703320" y="4590288"/>
            <a:ext cx="2194560" cy="1005840"/>
          </a:xfrm>
          <a:prstGeom prst="rect">
            <a:avLst/>
          </a:prstGeom>
          <a:noFill/>
        </p:spPr>
        <p:txBody>
          <a:bodyPr wrap="square" lIns="0" rIns="0" tIns="0" bIns="0" anchor="t">
            <a:spAutoFit/>
          </a:bodyPr>
          <a:lstStyle/>
          <a:p>
            <a:pPr algn="l">
              <a:lnSpc>
                <a:spcPct val="130000"/>
              </a:lnSpc>
              <a:spcBef>
                <a:spcPts val="0"/>
              </a:spcBef>
              <a:spcAft>
                <a:spcPts val="0"/>
              </a:spcAft>
            </a:pPr>
            <a:r>
              <a:rPr sz="1200" b="0">
                <a:solidFill>
                  <a:srgbClr val="6E6E88"/>
                </a:solidFill>
                <a:latin typeface="Segoe UI"/>
              </a:rPr>
              <a:t>A VS Code extension, or a local server in your own browser.</a:t>
            </a:r>
          </a:p>
        </p:txBody>
      </p:sp>
      <p:sp>
        <p:nvSpPr>
          <p:cNvPr id="12" name="Rectangle 11"/>
          <p:cNvSpPr/>
          <p:nvPr/>
        </p:nvSpPr>
        <p:spPr>
          <a:xfrm>
            <a:off x="6117336" y="3977639"/>
            <a:ext cx="50292" cy="141732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3368" y="3977639"/>
            <a:ext cx="2148840" cy="548640"/>
          </a:xfrm>
          <a:prstGeom prst="rect">
            <a:avLst/>
          </a:prstGeom>
          <a:noFill/>
        </p:spPr>
        <p:txBody>
          <a:bodyPr wrap="square" lIns="0" rIns="0" tIns="0" bIns="0" anchor="t">
            <a:spAutoFit/>
          </a:bodyPr>
          <a:lstStyle/>
          <a:p>
            <a:pPr algn="l">
              <a:lnSpc>
                <a:spcPct val="115000"/>
              </a:lnSpc>
              <a:spcBef>
                <a:spcPts val="0"/>
              </a:spcBef>
              <a:spcAft>
                <a:spcPts val="0"/>
              </a:spcAft>
            </a:pPr>
            <a:r>
              <a:rPr sz="1550" b="1">
                <a:solidFill>
                  <a:srgbClr val="141424"/>
                </a:solidFill>
                <a:latin typeface="Segoe UI"/>
              </a:rPr>
              <a:t>Any model you can reach</a:t>
            </a:r>
          </a:p>
        </p:txBody>
      </p:sp>
      <p:sp>
        <p:nvSpPr>
          <p:cNvPr id="14" name="TextBox 13"/>
          <p:cNvSpPr txBox="1"/>
          <p:nvPr/>
        </p:nvSpPr>
        <p:spPr>
          <a:xfrm>
            <a:off x="6373368" y="4590288"/>
            <a:ext cx="2194560" cy="1005840"/>
          </a:xfrm>
          <a:prstGeom prst="rect">
            <a:avLst/>
          </a:prstGeom>
          <a:noFill/>
        </p:spPr>
        <p:txBody>
          <a:bodyPr wrap="square" lIns="0" rIns="0" tIns="0" bIns="0" anchor="t">
            <a:spAutoFit/>
          </a:bodyPr>
          <a:lstStyle/>
          <a:p>
            <a:pPr algn="l">
              <a:lnSpc>
                <a:spcPct val="130000"/>
              </a:lnSpc>
              <a:spcBef>
                <a:spcPts val="0"/>
              </a:spcBef>
              <a:spcAft>
                <a:spcPts val="0"/>
              </a:spcAft>
            </a:pPr>
            <a:r>
              <a:rPr sz="1200" b="0">
                <a:solidFill>
                  <a:srgbClr val="6E6E88"/>
                </a:solidFill>
                <a:latin typeface="Segoe UI"/>
              </a:rPr>
              <a:t>OpenAI-compatible, Anthropic and Gemini wire formats.</a:t>
            </a:r>
          </a:p>
        </p:txBody>
      </p:sp>
      <p:sp>
        <p:nvSpPr>
          <p:cNvPr id="15" name="Rectangle 14"/>
          <p:cNvSpPr/>
          <p:nvPr/>
        </p:nvSpPr>
        <p:spPr>
          <a:xfrm>
            <a:off x="8787384" y="3977639"/>
            <a:ext cx="50292" cy="141732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43415" y="3977639"/>
            <a:ext cx="2148840" cy="548640"/>
          </a:xfrm>
          <a:prstGeom prst="rect">
            <a:avLst/>
          </a:prstGeom>
          <a:noFill/>
        </p:spPr>
        <p:txBody>
          <a:bodyPr wrap="square" lIns="0" rIns="0" tIns="0" bIns="0" anchor="t">
            <a:spAutoFit/>
          </a:bodyPr>
          <a:lstStyle/>
          <a:p>
            <a:pPr algn="l">
              <a:lnSpc>
                <a:spcPct val="115000"/>
              </a:lnSpc>
              <a:spcBef>
                <a:spcPts val="0"/>
              </a:spcBef>
              <a:spcAft>
                <a:spcPts val="0"/>
              </a:spcAft>
            </a:pPr>
            <a:r>
              <a:rPr sz="1550" b="1">
                <a:solidFill>
                  <a:srgbClr val="141424"/>
                </a:solidFill>
                <a:latin typeface="Segoe UI"/>
              </a:rPr>
              <a:t>Yours to inspect</a:t>
            </a:r>
          </a:p>
        </p:txBody>
      </p:sp>
      <p:sp>
        <p:nvSpPr>
          <p:cNvPr id="17" name="TextBox 16"/>
          <p:cNvSpPr txBox="1"/>
          <p:nvPr/>
        </p:nvSpPr>
        <p:spPr>
          <a:xfrm>
            <a:off x="9043415" y="4590288"/>
            <a:ext cx="2194560" cy="1005840"/>
          </a:xfrm>
          <a:prstGeom prst="rect">
            <a:avLst/>
          </a:prstGeom>
          <a:noFill/>
        </p:spPr>
        <p:txBody>
          <a:bodyPr wrap="square" lIns="0" rIns="0" tIns="0" bIns="0" anchor="t">
            <a:spAutoFit/>
          </a:bodyPr>
          <a:lstStyle/>
          <a:p>
            <a:pPr algn="l">
              <a:lnSpc>
                <a:spcPct val="130000"/>
              </a:lnSpc>
              <a:spcBef>
                <a:spcPts val="0"/>
              </a:spcBef>
              <a:spcAft>
                <a:spcPts val="0"/>
              </a:spcAft>
            </a:pPr>
            <a:r>
              <a:rPr sz="1200" b="0">
                <a:solidFill>
                  <a:srgbClr val="6E6E88"/>
                </a:solidFill>
                <a:latin typeface="Segoe UI"/>
              </a:rPr>
              <a:t>MIT licensed. No cloud account, no hosted component.</a:t>
            </a:r>
          </a:p>
        </p:txBody>
      </p:sp>
      <p:sp>
        <p:nvSpPr>
          <p:cNvPr id="18" name="TextBox 17"/>
          <p:cNvSpPr txBox="1"/>
          <p:nvPr/>
        </p:nvSpPr>
        <p:spPr>
          <a:xfrm>
            <a:off x="777240" y="6455664"/>
            <a:ext cx="3657600" cy="274320"/>
          </a:xfrm>
          <a:prstGeom prst="rect">
            <a:avLst/>
          </a:prstGeom>
          <a:noFill/>
        </p:spPr>
        <p:txBody>
          <a:bodyPr wrap="square" lIns="0" rIns="0" tIns="0" bIns="0" anchor="t">
            <a:spAutoFit/>
          </a:bodyPr>
          <a:lstStyle/>
          <a:p>
            <a:pPr algn="l">
              <a:spcBef>
                <a:spcPts val="0"/>
              </a:spcBef>
              <a:spcAft>
                <a:spcPts val="0"/>
              </a:spcAft>
            </a:pPr>
            <a:r>
              <a:rPr sz="1000" b="0">
                <a:solidFill>
                  <a:srgbClr val="6E6E88"/>
                </a:solidFill>
                <a:latin typeface="Segoe UI"/>
              </a:rPr>
              <a:t>Light Code</a:t>
            </a:r>
          </a:p>
        </p:txBody>
      </p:sp>
      <p:sp>
        <p:nvSpPr>
          <p:cNvPr id="19" name="TextBox 18"/>
          <p:cNvSpPr txBox="1"/>
          <p:nvPr/>
        </p:nvSpPr>
        <p:spPr>
          <a:xfrm>
            <a:off x="10500055" y="6455664"/>
            <a:ext cx="914400" cy="274320"/>
          </a:xfrm>
          <a:prstGeom prst="rect">
            <a:avLst/>
          </a:prstGeom>
          <a:noFill/>
        </p:spPr>
        <p:txBody>
          <a:bodyPr wrap="square" lIns="0" rIns="0" tIns="0" bIns="0" anchor="t">
            <a:spAutoFit/>
          </a:bodyPr>
          <a:lstStyle/>
          <a:p>
            <a:pPr algn="r">
              <a:spcBef>
                <a:spcPts val="0"/>
              </a:spcBef>
              <a:spcAft>
                <a:spcPts val="0"/>
              </a:spcAft>
            </a:pPr>
            <a:r>
              <a:rPr sz="1000" b="0">
                <a:solidFill>
                  <a:srgbClr val="6E6E88"/>
                </a:solidFill>
                <a:latin typeface="Segoe U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77240" y="566928"/>
            <a:ext cx="566928" cy="6858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86384"/>
            <a:ext cx="10637215" cy="365760"/>
          </a:xfrm>
          <a:prstGeom prst="rect">
            <a:avLst/>
          </a:prstGeom>
          <a:noFill/>
        </p:spPr>
        <p:txBody>
          <a:bodyPr wrap="square" lIns="0" rIns="0" tIns="0" bIns="0" anchor="t">
            <a:spAutoFit/>
          </a:bodyPr>
          <a:lstStyle/>
          <a:p>
            <a:pPr algn="l">
              <a:spcBef>
                <a:spcPts val="0"/>
              </a:spcBef>
              <a:spcAft>
                <a:spcPts val="0"/>
              </a:spcAft>
            </a:pPr>
            <a:r>
              <a:rPr sz="1250" b="1">
                <a:solidFill>
                  <a:srgbClr val="A855F7"/>
                </a:solidFill>
                <a:latin typeface="Segoe UI"/>
              </a:rPr>
              <a:t>THE SECURITY BOUNDARY</a:t>
            </a:r>
          </a:p>
        </p:txBody>
      </p:sp>
      <p:sp>
        <p:nvSpPr>
          <p:cNvPr id="4" name="TextBox 3"/>
          <p:cNvSpPr txBox="1"/>
          <p:nvPr/>
        </p:nvSpPr>
        <p:spPr>
          <a:xfrm>
            <a:off x="777240" y="1188720"/>
            <a:ext cx="10637215" cy="1143000"/>
          </a:xfrm>
          <a:prstGeom prst="rect">
            <a:avLst/>
          </a:prstGeom>
          <a:noFill/>
        </p:spPr>
        <p:txBody>
          <a:bodyPr wrap="square" lIns="0" rIns="0" tIns="0" bIns="0" anchor="t">
            <a:spAutoFit/>
          </a:bodyPr>
          <a:lstStyle/>
          <a:p>
            <a:pPr algn="l">
              <a:lnSpc>
                <a:spcPct val="106000"/>
              </a:lnSpc>
              <a:spcBef>
                <a:spcPts val="0"/>
              </a:spcBef>
              <a:spcAft>
                <a:spcPts val="0"/>
              </a:spcAft>
            </a:pPr>
            <a:r>
              <a:rPr sz="3300" b="1">
                <a:solidFill>
                  <a:srgbClr val="141424"/>
                </a:solidFill>
                <a:latin typeface="Segoe UI"/>
              </a:rPr>
              <a:t>It makes no network connection you have not configured</a:t>
            </a:r>
          </a:p>
        </p:txBody>
      </p:sp>
      <p:sp>
        <p:nvSpPr>
          <p:cNvPr id="5" name="Rounded Rectangle 4"/>
          <p:cNvSpPr/>
          <p:nvPr/>
        </p:nvSpPr>
        <p:spPr>
          <a:xfrm>
            <a:off x="777240" y="2487168"/>
            <a:ext cx="10637215" cy="1783080"/>
          </a:xfrm>
          <a:prstGeom prst="roundRect">
            <a:avLst/>
          </a:prstGeom>
          <a:solidFill>
            <a:srgbClr val="F5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2487168"/>
            <a:ext cx="82296" cy="178308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2807208"/>
            <a:ext cx="9539935" cy="1371600"/>
          </a:xfrm>
          <a:prstGeom prst="rect">
            <a:avLst/>
          </a:prstGeom>
          <a:noFill/>
        </p:spPr>
        <p:txBody>
          <a:bodyPr wrap="square" lIns="0" rIns="0" tIns="0" bIns="0" anchor="t">
            <a:spAutoFit/>
          </a:bodyPr>
          <a:lstStyle/>
          <a:p>
            <a:pPr algn="l">
              <a:lnSpc>
                <a:spcPct val="140000"/>
              </a:lnSpc>
              <a:spcBef>
                <a:spcPts val="0"/>
              </a:spcBef>
              <a:spcAft>
                <a:spcPts val="0"/>
              </a:spcAft>
            </a:pPr>
            <a:r>
              <a:rPr sz="1700" b="0">
                <a:solidFill>
                  <a:srgbClr val="3C3C52"/>
                </a:solidFill>
                <a:latin typeface="Segoe UI"/>
              </a:rPr>
              <a:t>It ships with zero default endpoints, no telemetry, no update checks and no remote assets. The only hosts it contacts are the model gateway, the MCP servers, and — if you switch indexing on — the vector store and embedding endpoint you named.</a:t>
            </a:r>
          </a:p>
        </p:txBody>
      </p:sp>
      <p:sp>
        <p:nvSpPr>
          <p:cNvPr id="8" name="Rectangle 7"/>
          <p:cNvSpPr/>
          <p:nvPr/>
        </p:nvSpPr>
        <p:spPr>
          <a:xfrm>
            <a:off x="777240" y="4709160"/>
            <a:ext cx="50292" cy="128016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4709160"/>
            <a:ext cx="2971800" cy="411480"/>
          </a:xfrm>
          <a:prstGeom prst="rect">
            <a:avLst/>
          </a:prstGeom>
          <a:noFill/>
        </p:spPr>
        <p:txBody>
          <a:bodyPr wrap="square" lIns="0" rIns="0" tIns="0" bIns="0" anchor="t">
            <a:spAutoFit/>
          </a:bodyPr>
          <a:lstStyle/>
          <a:p>
            <a:pPr algn="l">
              <a:spcBef>
                <a:spcPts val="0"/>
              </a:spcBef>
              <a:spcAft>
                <a:spcPts val="0"/>
              </a:spcAft>
            </a:pPr>
            <a:r>
              <a:rPr sz="1450" b="1">
                <a:solidFill>
                  <a:srgbClr val="141424"/>
                </a:solidFill>
                <a:latin typeface="Segoe UI"/>
              </a:rPr>
              <a:t>Proved by the build</a:t>
            </a:r>
          </a:p>
        </p:txBody>
      </p:sp>
      <p:sp>
        <p:nvSpPr>
          <p:cNvPr id="10" name="TextBox 9"/>
          <p:cNvSpPr txBox="1"/>
          <p:nvPr/>
        </p:nvSpPr>
        <p:spPr>
          <a:xfrm>
            <a:off x="1033271" y="5093208"/>
            <a:ext cx="3017520" cy="914399"/>
          </a:xfrm>
          <a:prstGeom prst="rect">
            <a:avLst/>
          </a:prstGeom>
          <a:noFill/>
        </p:spPr>
        <p:txBody>
          <a:bodyPr wrap="square" lIns="0" rIns="0" tIns="0" bIns="0" anchor="t">
            <a:spAutoFit/>
          </a:bodyPr>
          <a:lstStyle/>
          <a:p>
            <a:pPr algn="l">
              <a:lnSpc>
                <a:spcPct val="130000"/>
              </a:lnSpc>
              <a:spcBef>
                <a:spcPts val="0"/>
              </a:spcBef>
              <a:spcAft>
                <a:spcPts val="0"/>
              </a:spcAft>
            </a:pPr>
            <a:r>
              <a:rPr sz="1150" b="0">
                <a:solidFill>
                  <a:srgbClr val="6E6E88"/>
                </a:solidFill>
                <a:latin typeface="Segoe UI"/>
              </a:rPr>
              <a:t>A job fails the build if the packaged output contains a host that is not on a reviewed list.</a:t>
            </a:r>
          </a:p>
        </p:txBody>
      </p:sp>
      <p:sp>
        <p:nvSpPr>
          <p:cNvPr id="11" name="Rectangle 10"/>
          <p:cNvSpPr/>
          <p:nvPr/>
        </p:nvSpPr>
        <p:spPr>
          <a:xfrm>
            <a:off x="4425696" y="4709160"/>
            <a:ext cx="50292" cy="128016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81728" y="4709160"/>
            <a:ext cx="2971800" cy="411480"/>
          </a:xfrm>
          <a:prstGeom prst="rect">
            <a:avLst/>
          </a:prstGeom>
          <a:noFill/>
        </p:spPr>
        <p:txBody>
          <a:bodyPr wrap="square" lIns="0" rIns="0" tIns="0" bIns="0" anchor="t">
            <a:spAutoFit/>
          </a:bodyPr>
          <a:lstStyle/>
          <a:p>
            <a:pPr algn="l">
              <a:spcBef>
                <a:spcPts val="0"/>
              </a:spcBef>
              <a:spcAft>
                <a:spcPts val="0"/>
              </a:spcAft>
            </a:pPr>
            <a:r>
              <a:rPr sz="1450" b="1">
                <a:solidFill>
                  <a:srgbClr val="141424"/>
                </a:solidFill>
                <a:latin typeface="Segoe UI"/>
              </a:rPr>
              <a:t>Proved offline</a:t>
            </a:r>
          </a:p>
        </p:txBody>
      </p:sp>
      <p:sp>
        <p:nvSpPr>
          <p:cNvPr id="13" name="TextBox 12"/>
          <p:cNvSpPr txBox="1"/>
          <p:nvPr/>
        </p:nvSpPr>
        <p:spPr>
          <a:xfrm>
            <a:off x="4681728" y="5093208"/>
            <a:ext cx="3017520" cy="914399"/>
          </a:xfrm>
          <a:prstGeom prst="rect">
            <a:avLst/>
          </a:prstGeom>
          <a:noFill/>
        </p:spPr>
        <p:txBody>
          <a:bodyPr wrap="square" lIns="0" rIns="0" tIns="0" bIns="0" anchor="t">
            <a:spAutoFit/>
          </a:bodyPr>
          <a:lstStyle/>
          <a:p>
            <a:pPr algn="l">
              <a:lnSpc>
                <a:spcPct val="130000"/>
              </a:lnSpc>
              <a:spcBef>
                <a:spcPts val="0"/>
              </a:spcBef>
              <a:spcAft>
                <a:spcPts val="0"/>
              </a:spcAft>
            </a:pPr>
            <a:r>
              <a:rPr sz="1150" b="0">
                <a:solidFill>
                  <a:srgbClr val="6E6E88"/>
                </a:solidFill>
                <a:latin typeface="Segoe UI"/>
              </a:rPr>
              <a:t>Another runs the entire test suite with no route to the internet at all, including activation.</a:t>
            </a:r>
          </a:p>
        </p:txBody>
      </p:sp>
      <p:sp>
        <p:nvSpPr>
          <p:cNvPr id="14" name="Rectangle 13"/>
          <p:cNvSpPr/>
          <p:nvPr/>
        </p:nvSpPr>
        <p:spPr>
          <a:xfrm>
            <a:off x="8074152" y="4709160"/>
            <a:ext cx="50292" cy="128016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4709160"/>
            <a:ext cx="2971800" cy="411480"/>
          </a:xfrm>
          <a:prstGeom prst="rect">
            <a:avLst/>
          </a:prstGeom>
          <a:noFill/>
        </p:spPr>
        <p:txBody>
          <a:bodyPr wrap="square" lIns="0" rIns="0" tIns="0" bIns="0" anchor="t">
            <a:spAutoFit/>
          </a:bodyPr>
          <a:lstStyle/>
          <a:p>
            <a:pPr algn="l">
              <a:spcBef>
                <a:spcPts val="0"/>
              </a:spcBef>
              <a:spcAft>
                <a:spcPts val="0"/>
              </a:spcAft>
            </a:pPr>
            <a:r>
              <a:rPr sz="1450" b="1">
                <a:solidFill>
                  <a:srgbClr val="141424"/>
                </a:solidFill>
                <a:latin typeface="Segoe UI"/>
              </a:rPr>
              <a:t>Nothing to opt out of</a:t>
            </a:r>
          </a:p>
        </p:txBody>
      </p:sp>
      <p:sp>
        <p:nvSpPr>
          <p:cNvPr id="16" name="TextBox 15"/>
          <p:cNvSpPr txBox="1"/>
          <p:nvPr/>
        </p:nvSpPr>
        <p:spPr>
          <a:xfrm>
            <a:off x="8330183" y="5093208"/>
            <a:ext cx="3017520" cy="914399"/>
          </a:xfrm>
          <a:prstGeom prst="rect">
            <a:avLst/>
          </a:prstGeom>
          <a:noFill/>
        </p:spPr>
        <p:txBody>
          <a:bodyPr wrap="square" lIns="0" rIns="0" tIns="0" bIns="0" anchor="t">
            <a:spAutoFit/>
          </a:bodyPr>
          <a:lstStyle/>
          <a:p>
            <a:pPr algn="l">
              <a:lnSpc>
                <a:spcPct val="130000"/>
              </a:lnSpc>
              <a:spcBef>
                <a:spcPts val="0"/>
              </a:spcBef>
              <a:spcAft>
                <a:spcPts val="0"/>
              </a:spcAft>
            </a:pPr>
            <a:r>
              <a:rPr sz="1150" b="0">
                <a:solidFill>
                  <a:srgbClr val="6E6E88"/>
                </a:solidFill>
                <a:latin typeface="Segoe UI"/>
              </a:rPr>
              <a:t>There is no analytics setting, because there is no analytics code to switch off.</a:t>
            </a:r>
          </a:p>
        </p:txBody>
      </p:sp>
      <p:sp>
        <p:nvSpPr>
          <p:cNvPr id="17" name="TextBox 16"/>
          <p:cNvSpPr txBox="1"/>
          <p:nvPr/>
        </p:nvSpPr>
        <p:spPr>
          <a:xfrm>
            <a:off x="777240" y="6455664"/>
            <a:ext cx="3657600" cy="274320"/>
          </a:xfrm>
          <a:prstGeom prst="rect">
            <a:avLst/>
          </a:prstGeom>
          <a:noFill/>
        </p:spPr>
        <p:txBody>
          <a:bodyPr wrap="square" lIns="0" rIns="0" tIns="0" bIns="0" anchor="t">
            <a:spAutoFit/>
          </a:bodyPr>
          <a:lstStyle/>
          <a:p>
            <a:pPr algn="l">
              <a:spcBef>
                <a:spcPts val="0"/>
              </a:spcBef>
              <a:spcAft>
                <a:spcPts val="0"/>
              </a:spcAft>
            </a:pPr>
            <a:r>
              <a:rPr sz="1000" b="0">
                <a:solidFill>
                  <a:srgbClr val="6E6E88"/>
                </a:solidFill>
                <a:latin typeface="Segoe UI"/>
              </a:rPr>
              <a:t>Light Code</a:t>
            </a:r>
          </a:p>
        </p:txBody>
      </p:sp>
      <p:sp>
        <p:nvSpPr>
          <p:cNvPr id="18" name="TextBox 17"/>
          <p:cNvSpPr txBox="1"/>
          <p:nvPr/>
        </p:nvSpPr>
        <p:spPr>
          <a:xfrm>
            <a:off x="10500055" y="6455664"/>
            <a:ext cx="914400" cy="274320"/>
          </a:xfrm>
          <a:prstGeom prst="rect">
            <a:avLst/>
          </a:prstGeom>
          <a:noFill/>
        </p:spPr>
        <p:txBody>
          <a:bodyPr wrap="square" lIns="0" rIns="0" tIns="0" bIns="0" anchor="t">
            <a:spAutoFit/>
          </a:bodyPr>
          <a:lstStyle/>
          <a:p>
            <a:pPr algn="r">
              <a:spcBef>
                <a:spcPts val="0"/>
              </a:spcBef>
              <a:spcAft>
                <a:spcPts val="0"/>
              </a:spcAft>
            </a:pPr>
            <a:r>
              <a:rPr sz="1000" b="0">
                <a:solidFill>
                  <a:srgbClr val="6E6E88"/>
                </a:solidFill>
                <a:latin typeface="Segoe U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77240" y="566928"/>
            <a:ext cx="566928" cy="6858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86384"/>
            <a:ext cx="10637215" cy="365760"/>
          </a:xfrm>
          <a:prstGeom prst="rect">
            <a:avLst/>
          </a:prstGeom>
          <a:noFill/>
        </p:spPr>
        <p:txBody>
          <a:bodyPr wrap="square" lIns="0" rIns="0" tIns="0" bIns="0" anchor="t">
            <a:spAutoFit/>
          </a:bodyPr>
          <a:lstStyle/>
          <a:p>
            <a:pPr algn="l">
              <a:spcBef>
                <a:spcPts val="0"/>
              </a:spcBef>
              <a:spcAft>
                <a:spcPts val="0"/>
              </a:spcAft>
            </a:pPr>
            <a:r>
              <a:rPr sz="1250" b="1">
                <a:solidFill>
                  <a:srgbClr val="A855F7"/>
                </a:solidFill>
                <a:latin typeface="Segoe UI"/>
              </a:rPr>
              <a:t>FITTING IN</a:t>
            </a:r>
          </a:p>
        </p:txBody>
      </p:sp>
      <p:sp>
        <p:nvSpPr>
          <p:cNvPr id="4" name="TextBox 3"/>
          <p:cNvSpPr txBox="1"/>
          <p:nvPr/>
        </p:nvSpPr>
        <p:spPr>
          <a:xfrm>
            <a:off x="777240" y="1188720"/>
            <a:ext cx="10637215" cy="1143000"/>
          </a:xfrm>
          <a:prstGeom prst="rect">
            <a:avLst/>
          </a:prstGeom>
          <a:noFill/>
        </p:spPr>
        <p:txBody>
          <a:bodyPr wrap="square" lIns="0" rIns="0" tIns="0" bIns="0" anchor="t">
            <a:spAutoFit/>
          </a:bodyPr>
          <a:lstStyle/>
          <a:p>
            <a:pPr algn="l">
              <a:lnSpc>
                <a:spcPct val="106000"/>
              </a:lnSpc>
              <a:spcBef>
                <a:spcPts val="0"/>
              </a:spcBef>
              <a:spcAft>
                <a:spcPts val="0"/>
              </a:spcAft>
            </a:pPr>
            <a:r>
              <a:rPr sz="3300" b="1">
                <a:solidFill>
                  <a:srgbClr val="141424"/>
                </a:solidFill>
                <a:latin typeface="Segoe UI"/>
              </a:rPr>
              <a:t>It connects to the infrastructure you already have</a:t>
            </a:r>
          </a:p>
        </p:txBody>
      </p:sp>
      <p:sp>
        <p:nvSpPr>
          <p:cNvPr id="5" name="TextBox 4"/>
          <p:cNvSpPr txBox="1"/>
          <p:nvPr/>
        </p:nvSpPr>
        <p:spPr>
          <a:xfrm>
            <a:off x="777240" y="2011680"/>
            <a:ext cx="10637215" cy="457200"/>
          </a:xfrm>
          <a:prstGeom prst="rect">
            <a:avLst/>
          </a:prstGeom>
          <a:noFill/>
        </p:spPr>
        <p:txBody>
          <a:bodyPr wrap="square" lIns="0" rIns="0" tIns="0" bIns="0" anchor="t">
            <a:spAutoFit/>
          </a:bodyPr>
          <a:lstStyle/>
          <a:p>
            <a:pPr algn="l">
              <a:lnSpc>
                <a:spcPct val="130000"/>
              </a:lnSpc>
              <a:spcBef>
                <a:spcPts val="0"/>
              </a:spcBef>
              <a:spcAft>
                <a:spcPts val="0"/>
              </a:spcAft>
            </a:pPr>
            <a:r>
              <a:rPr sz="1550" b="0">
                <a:solidFill>
                  <a:srgbClr val="6E6E88"/>
                </a:solidFill>
                <a:latin typeface="Segoe UI"/>
              </a:rPr>
              <a:t>This is the difference that matters most, and the one most tools do not attempt.</a:t>
            </a:r>
          </a:p>
        </p:txBody>
      </p:sp>
      <p:sp>
        <p:nvSpPr>
          <p:cNvPr id="6" name="Rectangle 5"/>
          <p:cNvSpPr/>
          <p:nvPr/>
        </p:nvSpPr>
        <p:spPr>
          <a:xfrm>
            <a:off x="777240" y="2660904"/>
            <a:ext cx="50292" cy="585216"/>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624328"/>
            <a:ext cx="3291840" cy="640080"/>
          </a:xfrm>
          <a:prstGeom prst="rect">
            <a:avLst/>
          </a:prstGeom>
          <a:noFill/>
        </p:spPr>
        <p:txBody>
          <a:bodyPr wrap="square" lIns="0" rIns="0" tIns="0" bIns="0" anchor="t">
            <a:spAutoFit/>
          </a:bodyPr>
          <a:lstStyle/>
          <a:p>
            <a:pPr algn="l">
              <a:lnSpc>
                <a:spcPct val="115000"/>
              </a:lnSpc>
              <a:spcBef>
                <a:spcPts val="0"/>
              </a:spcBef>
              <a:spcAft>
                <a:spcPts val="0"/>
              </a:spcAft>
            </a:pPr>
            <a:r>
              <a:rPr sz="1500" b="1">
                <a:solidFill>
                  <a:srgbClr val="141424"/>
                </a:solidFill>
                <a:latin typeface="Segoe UI"/>
              </a:rPr>
              <a:t>Three wire formats</a:t>
            </a:r>
          </a:p>
        </p:txBody>
      </p:sp>
      <p:sp>
        <p:nvSpPr>
          <p:cNvPr id="8" name="TextBox 7"/>
          <p:cNvSpPr txBox="1"/>
          <p:nvPr/>
        </p:nvSpPr>
        <p:spPr>
          <a:xfrm>
            <a:off x="4572000" y="2624328"/>
            <a:ext cx="6842455" cy="658368"/>
          </a:xfrm>
          <a:prstGeom prst="rect">
            <a:avLst/>
          </a:prstGeom>
          <a:noFill/>
        </p:spPr>
        <p:txBody>
          <a:bodyPr wrap="square" lIns="0" rIns="0" tIns="0" bIns="0" anchor="t">
            <a:spAutoFit/>
          </a:bodyPr>
          <a:lstStyle/>
          <a:p>
            <a:pPr algn="l">
              <a:lnSpc>
                <a:spcPct val="135000"/>
              </a:lnSpc>
              <a:spcBef>
                <a:spcPts val="0"/>
              </a:spcBef>
              <a:spcAft>
                <a:spcPts val="0"/>
              </a:spcAft>
            </a:pPr>
            <a:r>
              <a:rPr sz="1250" b="0">
                <a:solidFill>
                  <a:srgbClr val="3C3C52"/>
                </a:solidFill>
                <a:latin typeface="Segoe UI"/>
              </a:rPr>
              <a:t>OpenAI-compatible, Anthropic Messages and Google Gemini, behind named profiles you switch between. Presets prefill a base URL; every field stays editable.</a:t>
            </a:r>
          </a:p>
        </p:txBody>
      </p:sp>
      <p:sp>
        <p:nvSpPr>
          <p:cNvPr id="9" name="Rectangle 8"/>
          <p:cNvSpPr/>
          <p:nvPr/>
        </p:nvSpPr>
        <p:spPr>
          <a:xfrm>
            <a:off x="777240" y="3502152"/>
            <a:ext cx="50292" cy="585216"/>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3465576"/>
            <a:ext cx="3291840" cy="640080"/>
          </a:xfrm>
          <a:prstGeom prst="rect">
            <a:avLst/>
          </a:prstGeom>
          <a:noFill/>
        </p:spPr>
        <p:txBody>
          <a:bodyPr wrap="square" lIns="0" rIns="0" tIns="0" bIns="0" anchor="t">
            <a:spAutoFit/>
          </a:bodyPr>
          <a:lstStyle/>
          <a:p>
            <a:pPr algn="l">
              <a:lnSpc>
                <a:spcPct val="115000"/>
              </a:lnSpc>
              <a:spcBef>
                <a:spcPts val="0"/>
              </a:spcBef>
              <a:spcAft>
                <a:spcPts val="0"/>
              </a:spcAft>
            </a:pPr>
            <a:r>
              <a:rPr sz="1500" b="1">
                <a:solidFill>
                  <a:srgbClr val="141424"/>
                </a:solidFill>
                <a:latin typeface="Segoe UI"/>
              </a:rPr>
              <a:t>Mutual TLS and your PKI</a:t>
            </a:r>
          </a:p>
        </p:txBody>
      </p:sp>
      <p:sp>
        <p:nvSpPr>
          <p:cNvPr id="11" name="TextBox 10"/>
          <p:cNvSpPr txBox="1"/>
          <p:nvPr/>
        </p:nvSpPr>
        <p:spPr>
          <a:xfrm>
            <a:off x="4572000" y="3465576"/>
            <a:ext cx="6842455" cy="658368"/>
          </a:xfrm>
          <a:prstGeom prst="rect">
            <a:avLst/>
          </a:prstGeom>
          <a:noFill/>
        </p:spPr>
        <p:txBody>
          <a:bodyPr wrap="square" lIns="0" rIns="0" tIns="0" bIns="0" anchor="t">
            <a:spAutoFit/>
          </a:bodyPr>
          <a:lstStyle/>
          <a:p>
            <a:pPr algn="l">
              <a:lnSpc>
                <a:spcPct val="135000"/>
              </a:lnSpc>
              <a:spcBef>
                <a:spcPts val="0"/>
              </a:spcBef>
              <a:spcAft>
                <a:spcPts val="0"/>
              </a:spcAft>
            </a:pPr>
            <a:r>
              <a:rPr sz="1250" b="0">
                <a:solidFill>
                  <a:srgbClr val="3C3C52"/>
                </a:solidFill>
                <a:latin typeface="Segoe UI"/>
              </a:rPr>
              <a:t>Client certificates as PEM or PFX — the form corporate Windows PKI usually issues — with the passphrase in the OS credential store, never in a file.</a:t>
            </a:r>
          </a:p>
        </p:txBody>
      </p:sp>
      <p:sp>
        <p:nvSpPr>
          <p:cNvPr id="12" name="Rectangle 11"/>
          <p:cNvSpPr/>
          <p:nvPr/>
        </p:nvSpPr>
        <p:spPr>
          <a:xfrm>
            <a:off x="777240" y="4343400"/>
            <a:ext cx="50292" cy="585216"/>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306824"/>
            <a:ext cx="3291840" cy="640080"/>
          </a:xfrm>
          <a:prstGeom prst="rect">
            <a:avLst/>
          </a:prstGeom>
          <a:noFill/>
        </p:spPr>
        <p:txBody>
          <a:bodyPr wrap="square" lIns="0" rIns="0" tIns="0" bIns="0" anchor="t">
            <a:spAutoFit/>
          </a:bodyPr>
          <a:lstStyle/>
          <a:p>
            <a:pPr algn="l">
              <a:lnSpc>
                <a:spcPct val="115000"/>
              </a:lnSpc>
              <a:spcBef>
                <a:spcPts val="0"/>
              </a:spcBef>
              <a:spcAft>
                <a:spcPts val="0"/>
              </a:spcAft>
            </a:pPr>
            <a:r>
              <a:rPr sz="1500" b="1">
                <a:solidFill>
                  <a:srgbClr val="141424"/>
                </a:solidFill>
                <a:latin typeface="Segoe UI"/>
              </a:rPr>
              <a:t>OAuth token exchange</a:t>
            </a:r>
          </a:p>
        </p:txBody>
      </p:sp>
      <p:sp>
        <p:nvSpPr>
          <p:cNvPr id="14" name="TextBox 13"/>
          <p:cNvSpPr txBox="1"/>
          <p:nvPr/>
        </p:nvSpPr>
        <p:spPr>
          <a:xfrm>
            <a:off x="4572000" y="4306824"/>
            <a:ext cx="6842455" cy="658368"/>
          </a:xfrm>
          <a:prstGeom prst="rect">
            <a:avLst/>
          </a:prstGeom>
          <a:noFill/>
        </p:spPr>
        <p:txBody>
          <a:bodyPr wrap="square" lIns="0" rIns="0" tIns="0" bIns="0" anchor="t">
            <a:spAutoFit/>
          </a:bodyPr>
          <a:lstStyle/>
          <a:p>
            <a:pPr algn="l">
              <a:lnSpc>
                <a:spcPct val="135000"/>
              </a:lnSpc>
              <a:spcBef>
                <a:spcPts val="0"/>
              </a:spcBef>
              <a:spcAft>
                <a:spcPts val="0"/>
              </a:spcAft>
            </a:pPr>
            <a:r>
              <a:rPr sz="1250" b="0">
                <a:solidFill>
                  <a:srgbClr val="3C3C52"/>
                </a:solidFill>
                <a:latin typeface="Segoe UI"/>
              </a:rPr>
              <a:t>Client-credentials over mutual TLS, refreshed ahead of expiry so a token never dies mid-response. Every gateway-specific field is configurable.</a:t>
            </a:r>
          </a:p>
        </p:txBody>
      </p:sp>
      <p:sp>
        <p:nvSpPr>
          <p:cNvPr id="15" name="Rectangle 14"/>
          <p:cNvSpPr/>
          <p:nvPr/>
        </p:nvSpPr>
        <p:spPr>
          <a:xfrm>
            <a:off x="777240" y="5184648"/>
            <a:ext cx="50292" cy="585216"/>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48072"/>
            <a:ext cx="3291840" cy="640080"/>
          </a:xfrm>
          <a:prstGeom prst="rect">
            <a:avLst/>
          </a:prstGeom>
          <a:noFill/>
        </p:spPr>
        <p:txBody>
          <a:bodyPr wrap="square" lIns="0" rIns="0" tIns="0" bIns="0" anchor="t">
            <a:spAutoFit/>
          </a:bodyPr>
          <a:lstStyle/>
          <a:p>
            <a:pPr algn="l">
              <a:lnSpc>
                <a:spcPct val="115000"/>
              </a:lnSpc>
              <a:spcBef>
                <a:spcPts val="0"/>
              </a:spcBef>
              <a:spcAft>
                <a:spcPts val="0"/>
              </a:spcAft>
            </a:pPr>
            <a:r>
              <a:rPr sz="1500" b="1">
                <a:solidFill>
                  <a:srgbClr val="141424"/>
                </a:solidFill>
                <a:latin typeface="Segoe UI"/>
              </a:rPr>
              <a:t>One place for certificates</a:t>
            </a:r>
          </a:p>
        </p:txBody>
      </p:sp>
      <p:sp>
        <p:nvSpPr>
          <p:cNvPr id="17" name="TextBox 16"/>
          <p:cNvSpPr txBox="1"/>
          <p:nvPr/>
        </p:nvSpPr>
        <p:spPr>
          <a:xfrm>
            <a:off x="4572000" y="5148072"/>
            <a:ext cx="6842455" cy="658368"/>
          </a:xfrm>
          <a:prstGeom prst="rect">
            <a:avLst/>
          </a:prstGeom>
          <a:noFill/>
        </p:spPr>
        <p:txBody>
          <a:bodyPr wrap="square" lIns="0" rIns="0" tIns="0" bIns="0" anchor="t">
            <a:spAutoFit/>
          </a:bodyPr>
          <a:lstStyle/>
          <a:p>
            <a:pPr algn="l">
              <a:lnSpc>
                <a:spcPct val="135000"/>
              </a:lnSpc>
              <a:spcBef>
                <a:spcPts val="0"/>
              </a:spcBef>
              <a:spcAft>
                <a:spcPts val="0"/>
              </a:spcAft>
            </a:pPr>
            <a:r>
              <a:rPr sz="1250" b="0">
                <a:solidFill>
                  <a:srgbClr val="3C3C52"/>
                </a:solidFill>
                <a:latin typeface="Segoe UI"/>
              </a:rPr>
              <a:t>A corporate CA is configured once and applied to every connection — gateway, token endpoint, search. Expiry is reported and warned about before it bites.</a:t>
            </a:r>
          </a:p>
        </p:txBody>
      </p:sp>
      <p:sp>
        <p:nvSpPr>
          <p:cNvPr id="18" name="Rounded Rectangle 17"/>
          <p:cNvSpPr/>
          <p:nvPr/>
        </p:nvSpPr>
        <p:spPr>
          <a:xfrm>
            <a:off x="777240" y="5806440"/>
            <a:ext cx="10637215" cy="420624"/>
          </a:xfrm>
          <a:prstGeom prst="roundRect">
            <a:avLst/>
          </a:prstGeom>
          <a:solidFill>
            <a:srgbClr val="ECE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907024"/>
            <a:ext cx="10088575" cy="320040"/>
          </a:xfrm>
          <a:prstGeom prst="rect">
            <a:avLst/>
          </a:prstGeom>
          <a:noFill/>
        </p:spPr>
        <p:txBody>
          <a:bodyPr wrap="square" lIns="0" rIns="0" tIns="0" bIns="0" anchor="t">
            <a:spAutoFit/>
          </a:bodyPr>
          <a:lstStyle/>
          <a:p>
            <a:pPr algn="l">
              <a:spcBef>
                <a:spcPts val="0"/>
              </a:spcBef>
              <a:spcAft>
                <a:spcPts val="0"/>
              </a:spcAft>
            </a:pPr>
            <a:r>
              <a:rPr sz="1350" b="1">
                <a:solidFill>
                  <a:srgbClr val="4338CA"/>
                </a:solidFill>
                <a:latin typeface="Segoe UI"/>
              </a:rPr>
              <a:t>Test Connection runs load-certificates → get-token → list-models, and names the step that failed.</a:t>
            </a:r>
          </a:p>
        </p:txBody>
      </p:sp>
      <p:sp>
        <p:nvSpPr>
          <p:cNvPr id="20" name="TextBox 19"/>
          <p:cNvSpPr txBox="1"/>
          <p:nvPr/>
        </p:nvSpPr>
        <p:spPr>
          <a:xfrm>
            <a:off x="777240" y="6455664"/>
            <a:ext cx="3657600" cy="274320"/>
          </a:xfrm>
          <a:prstGeom prst="rect">
            <a:avLst/>
          </a:prstGeom>
          <a:noFill/>
        </p:spPr>
        <p:txBody>
          <a:bodyPr wrap="square" lIns="0" rIns="0" tIns="0" bIns="0" anchor="t">
            <a:spAutoFit/>
          </a:bodyPr>
          <a:lstStyle/>
          <a:p>
            <a:pPr algn="l">
              <a:spcBef>
                <a:spcPts val="0"/>
              </a:spcBef>
              <a:spcAft>
                <a:spcPts val="0"/>
              </a:spcAft>
            </a:pPr>
            <a:r>
              <a:rPr sz="1000" b="0">
                <a:solidFill>
                  <a:srgbClr val="6E6E88"/>
                </a:solidFill>
                <a:latin typeface="Segoe UI"/>
              </a:rPr>
              <a:t>Light Code</a:t>
            </a:r>
          </a:p>
        </p:txBody>
      </p:sp>
      <p:sp>
        <p:nvSpPr>
          <p:cNvPr id="21" name="TextBox 20"/>
          <p:cNvSpPr txBox="1"/>
          <p:nvPr/>
        </p:nvSpPr>
        <p:spPr>
          <a:xfrm>
            <a:off x="10500055" y="6455664"/>
            <a:ext cx="914400" cy="274320"/>
          </a:xfrm>
          <a:prstGeom prst="rect">
            <a:avLst/>
          </a:prstGeom>
          <a:noFill/>
        </p:spPr>
        <p:txBody>
          <a:bodyPr wrap="square" lIns="0" rIns="0" tIns="0" bIns="0" anchor="t">
            <a:spAutoFit/>
          </a:bodyPr>
          <a:lstStyle/>
          <a:p>
            <a:pPr algn="r">
              <a:spcBef>
                <a:spcPts val="0"/>
              </a:spcBef>
              <a:spcAft>
                <a:spcPts val="0"/>
              </a:spcAft>
            </a:pPr>
            <a:r>
              <a:rPr sz="1000" b="0">
                <a:solidFill>
                  <a:srgbClr val="6E6E88"/>
                </a:solidFill>
                <a:latin typeface="Segoe U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77240" y="566928"/>
            <a:ext cx="566928" cy="6858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86384"/>
            <a:ext cx="10637215" cy="365760"/>
          </a:xfrm>
          <a:prstGeom prst="rect">
            <a:avLst/>
          </a:prstGeom>
          <a:noFill/>
        </p:spPr>
        <p:txBody>
          <a:bodyPr wrap="square" lIns="0" rIns="0" tIns="0" bIns="0" anchor="t">
            <a:spAutoFit/>
          </a:bodyPr>
          <a:lstStyle/>
          <a:p>
            <a:pPr algn="l">
              <a:spcBef>
                <a:spcPts val="0"/>
              </a:spcBef>
              <a:spcAft>
                <a:spcPts val="0"/>
              </a:spcAft>
            </a:pPr>
            <a:r>
              <a:rPr sz="1250" b="1">
                <a:solidFill>
                  <a:srgbClr val="A855F7"/>
                </a:solidFill>
                <a:latin typeface="Segoe UI"/>
              </a:rPr>
              <a:t>CONTROL</a:t>
            </a:r>
          </a:p>
        </p:txBody>
      </p:sp>
      <p:sp>
        <p:nvSpPr>
          <p:cNvPr id="4" name="TextBox 3"/>
          <p:cNvSpPr txBox="1"/>
          <p:nvPr/>
        </p:nvSpPr>
        <p:spPr>
          <a:xfrm>
            <a:off x="777240" y="1188720"/>
            <a:ext cx="10637215" cy="1143000"/>
          </a:xfrm>
          <a:prstGeom prst="rect">
            <a:avLst/>
          </a:prstGeom>
          <a:noFill/>
        </p:spPr>
        <p:txBody>
          <a:bodyPr wrap="square" lIns="0" rIns="0" tIns="0" bIns="0" anchor="t">
            <a:spAutoFit/>
          </a:bodyPr>
          <a:lstStyle/>
          <a:p>
            <a:pPr algn="l">
              <a:lnSpc>
                <a:spcPct val="106000"/>
              </a:lnSpc>
              <a:spcBef>
                <a:spcPts val="0"/>
              </a:spcBef>
              <a:spcAft>
                <a:spcPts val="0"/>
              </a:spcAft>
            </a:pPr>
            <a:r>
              <a:rPr sz="3300" b="1">
                <a:solidFill>
                  <a:srgbClr val="141424"/>
                </a:solidFill>
                <a:latin typeface="Segoe UI"/>
              </a:rPr>
              <a:t>You approve each step, and you are shown the truth</a:t>
            </a:r>
          </a:p>
        </p:txBody>
      </p:sp>
      <p:sp>
        <p:nvSpPr>
          <p:cNvPr id="5" name="Rounded Rectangle 4"/>
          <p:cNvSpPr/>
          <p:nvPr/>
        </p:nvSpPr>
        <p:spPr>
          <a:xfrm>
            <a:off x="777240" y="2487168"/>
            <a:ext cx="5120640" cy="1783080"/>
          </a:xfrm>
          <a:prstGeom prst="roundRect">
            <a:avLst/>
          </a:prstGeom>
          <a:solidFill>
            <a:srgbClr val="F5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779776"/>
            <a:ext cx="4389120" cy="457200"/>
          </a:xfrm>
          <a:prstGeom prst="rect">
            <a:avLst/>
          </a:prstGeom>
          <a:noFill/>
        </p:spPr>
        <p:txBody>
          <a:bodyPr wrap="square" lIns="0" rIns="0" tIns="0" bIns="0" anchor="t">
            <a:spAutoFit/>
          </a:bodyPr>
          <a:lstStyle/>
          <a:p>
            <a:pPr algn="l">
              <a:lnSpc>
                <a:spcPct val="115000"/>
              </a:lnSpc>
              <a:spcBef>
                <a:spcPts val="0"/>
              </a:spcBef>
              <a:spcAft>
                <a:spcPts val="0"/>
              </a:spcAft>
            </a:pPr>
            <a:r>
              <a:rPr sz="1800" b="1">
                <a:solidFill>
                  <a:srgbClr val="4338CA"/>
                </a:solidFill>
                <a:latin typeface="Segoe UI"/>
              </a:rPr>
              <a:t>Ground truth in every prompt</a:t>
            </a:r>
          </a:p>
        </p:txBody>
      </p:sp>
      <p:sp>
        <p:nvSpPr>
          <p:cNvPr id="7" name="TextBox 6"/>
          <p:cNvSpPr txBox="1"/>
          <p:nvPr/>
        </p:nvSpPr>
        <p:spPr>
          <a:xfrm>
            <a:off x="1143000" y="3310128"/>
            <a:ext cx="4434840" cy="914400"/>
          </a:xfrm>
          <a:prstGeom prst="rect">
            <a:avLst/>
          </a:prstGeom>
          <a:noFill/>
        </p:spPr>
        <p:txBody>
          <a:bodyPr wrap="square" lIns="0" rIns="0" tIns="0" bIns="0" anchor="t">
            <a:spAutoFit/>
          </a:bodyPr>
          <a:lstStyle/>
          <a:p>
            <a:pPr algn="l">
              <a:lnSpc>
                <a:spcPct val="135000"/>
              </a:lnSpc>
              <a:spcBef>
                <a:spcPts val="0"/>
              </a:spcBef>
              <a:spcAft>
                <a:spcPts val="0"/>
              </a:spcAft>
            </a:pPr>
            <a:r>
              <a:rPr sz="1250" b="0">
                <a:solidFill>
                  <a:srgbClr val="3C3C52"/>
                </a:solidFill>
                <a:latin typeface="Segoe UI"/>
              </a:rPr>
              <a:t>The approval shows the literal command and the real computed diff — produced by the same matching code that will run, so what you approve is what executes.</a:t>
            </a:r>
          </a:p>
        </p:txBody>
      </p:sp>
      <p:sp>
        <p:nvSpPr>
          <p:cNvPr id="8" name="Rounded Rectangle 7"/>
          <p:cNvSpPr/>
          <p:nvPr/>
        </p:nvSpPr>
        <p:spPr>
          <a:xfrm>
            <a:off x="6199631" y="2487168"/>
            <a:ext cx="5120640" cy="1783080"/>
          </a:xfrm>
          <a:prstGeom prst="roundRect">
            <a:avLst/>
          </a:prstGeom>
          <a:solidFill>
            <a:srgbClr val="F5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65392" y="2779776"/>
            <a:ext cx="4389120" cy="457200"/>
          </a:xfrm>
          <a:prstGeom prst="rect">
            <a:avLst/>
          </a:prstGeom>
          <a:noFill/>
        </p:spPr>
        <p:txBody>
          <a:bodyPr wrap="square" lIns="0" rIns="0" tIns="0" bIns="0" anchor="t">
            <a:spAutoFit/>
          </a:bodyPr>
          <a:lstStyle/>
          <a:p>
            <a:pPr algn="l">
              <a:lnSpc>
                <a:spcPct val="115000"/>
              </a:lnSpc>
              <a:spcBef>
                <a:spcPts val="0"/>
              </a:spcBef>
              <a:spcAft>
                <a:spcPts val="0"/>
              </a:spcAft>
            </a:pPr>
            <a:r>
              <a:rPr sz="1800" b="1">
                <a:solidFill>
                  <a:srgbClr val="4338CA"/>
                </a:solidFill>
                <a:latin typeface="Segoe UI"/>
              </a:rPr>
              <a:t>“Always allow” is byte-for-byte</a:t>
            </a:r>
          </a:p>
        </p:txBody>
      </p:sp>
      <p:sp>
        <p:nvSpPr>
          <p:cNvPr id="10" name="TextBox 9"/>
          <p:cNvSpPr txBox="1"/>
          <p:nvPr/>
        </p:nvSpPr>
        <p:spPr>
          <a:xfrm>
            <a:off x="6565392" y="3310128"/>
            <a:ext cx="4434840" cy="914400"/>
          </a:xfrm>
          <a:prstGeom prst="rect">
            <a:avLst/>
          </a:prstGeom>
          <a:noFill/>
        </p:spPr>
        <p:txBody>
          <a:bodyPr wrap="square" lIns="0" rIns="0" tIns="0" bIns="0" anchor="t">
            <a:spAutoFit/>
          </a:bodyPr>
          <a:lstStyle/>
          <a:p>
            <a:pPr algn="l">
              <a:lnSpc>
                <a:spcPct val="135000"/>
              </a:lnSpc>
              <a:spcBef>
                <a:spcPts val="0"/>
              </a:spcBef>
              <a:spcAft>
                <a:spcPts val="0"/>
              </a:spcAft>
            </a:pPr>
            <a:r>
              <a:rPr sz="1250" b="0">
                <a:solidFill>
                  <a:srgbClr val="3C3C52"/>
                </a:solidFill>
                <a:latin typeface="Segoe UI"/>
              </a:rPr>
              <a:t>Allowing npm test allows exactly that. npm test; rm -rf / is a different string and still prompts. No prefix or pattern matching, deliberately.</a:t>
            </a:r>
          </a:p>
        </p:txBody>
      </p:sp>
      <p:sp>
        <p:nvSpPr>
          <p:cNvPr id="11" name="Rectangle 10"/>
          <p:cNvSpPr/>
          <p:nvPr/>
        </p:nvSpPr>
        <p:spPr>
          <a:xfrm>
            <a:off x="777240" y="4617720"/>
            <a:ext cx="50292" cy="132588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1" y="4617720"/>
            <a:ext cx="2971800" cy="411480"/>
          </a:xfrm>
          <a:prstGeom prst="rect">
            <a:avLst/>
          </a:prstGeom>
          <a:noFill/>
        </p:spPr>
        <p:txBody>
          <a:bodyPr wrap="square" lIns="0" rIns="0" tIns="0" bIns="0" anchor="t">
            <a:spAutoFit/>
          </a:bodyPr>
          <a:lstStyle/>
          <a:p>
            <a:pPr algn="l">
              <a:spcBef>
                <a:spcPts val="0"/>
              </a:spcBef>
              <a:spcAft>
                <a:spcPts val="0"/>
              </a:spcAft>
            </a:pPr>
            <a:r>
              <a:rPr sz="1450" b="1">
                <a:solidFill>
                  <a:srgbClr val="141424"/>
                </a:solidFill>
                <a:latin typeface="Segoe UI"/>
              </a:rPr>
              <a:t>Checkpoints</a:t>
            </a:r>
          </a:p>
        </p:txBody>
      </p:sp>
      <p:sp>
        <p:nvSpPr>
          <p:cNvPr id="13" name="TextBox 12"/>
          <p:cNvSpPr txBox="1"/>
          <p:nvPr/>
        </p:nvSpPr>
        <p:spPr>
          <a:xfrm>
            <a:off x="1033271" y="5001768"/>
            <a:ext cx="3017520" cy="960119"/>
          </a:xfrm>
          <a:prstGeom prst="rect">
            <a:avLst/>
          </a:prstGeom>
          <a:noFill/>
        </p:spPr>
        <p:txBody>
          <a:bodyPr wrap="square" lIns="0" rIns="0" tIns="0" bIns="0" anchor="t">
            <a:spAutoFit/>
          </a:bodyPr>
          <a:lstStyle/>
          <a:p>
            <a:pPr algn="l">
              <a:lnSpc>
                <a:spcPct val="130000"/>
              </a:lnSpc>
              <a:spcBef>
                <a:spcPts val="0"/>
              </a:spcBef>
              <a:spcAft>
                <a:spcPts val="0"/>
              </a:spcAft>
            </a:pPr>
            <a:r>
              <a:rPr sz="1150" b="0">
                <a:solidFill>
                  <a:srgbClr val="6E6E88"/>
                </a:solidFill>
                <a:latin typeface="Segoe UI"/>
              </a:rPr>
              <a:t>A snapshot before the first edit, so a task undoes in one click. Your own git repository is never touched.</a:t>
            </a:r>
          </a:p>
        </p:txBody>
      </p:sp>
      <p:sp>
        <p:nvSpPr>
          <p:cNvPr id="14" name="Rectangle 13"/>
          <p:cNvSpPr/>
          <p:nvPr/>
        </p:nvSpPr>
        <p:spPr>
          <a:xfrm>
            <a:off x="4425696" y="4617720"/>
            <a:ext cx="50292" cy="132588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81728" y="4617720"/>
            <a:ext cx="2971800" cy="411480"/>
          </a:xfrm>
          <a:prstGeom prst="rect">
            <a:avLst/>
          </a:prstGeom>
          <a:noFill/>
        </p:spPr>
        <p:txBody>
          <a:bodyPr wrap="square" lIns="0" rIns="0" tIns="0" bIns="0" anchor="t">
            <a:spAutoFit/>
          </a:bodyPr>
          <a:lstStyle/>
          <a:p>
            <a:pPr algn="l">
              <a:spcBef>
                <a:spcPts val="0"/>
              </a:spcBef>
              <a:spcAft>
                <a:spcPts val="0"/>
              </a:spcAft>
            </a:pPr>
            <a:r>
              <a:rPr sz="1450" b="1">
                <a:solidFill>
                  <a:srgbClr val="141424"/>
                </a:solidFill>
                <a:latin typeface="Segoe UI"/>
              </a:rPr>
              <a:t>Read before edit</a:t>
            </a:r>
          </a:p>
        </p:txBody>
      </p:sp>
      <p:sp>
        <p:nvSpPr>
          <p:cNvPr id="16" name="TextBox 15"/>
          <p:cNvSpPr txBox="1"/>
          <p:nvPr/>
        </p:nvSpPr>
        <p:spPr>
          <a:xfrm>
            <a:off x="4681728" y="5001768"/>
            <a:ext cx="3017520" cy="960119"/>
          </a:xfrm>
          <a:prstGeom prst="rect">
            <a:avLst/>
          </a:prstGeom>
          <a:noFill/>
        </p:spPr>
        <p:txBody>
          <a:bodyPr wrap="square" lIns="0" rIns="0" tIns="0" bIns="0" anchor="t">
            <a:spAutoFit/>
          </a:bodyPr>
          <a:lstStyle/>
          <a:p>
            <a:pPr algn="l">
              <a:lnSpc>
                <a:spcPct val="130000"/>
              </a:lnSpc>
              <a:spcBef>
                <a:spcPts val="0"/>
              </a:spcBef>
              <a:spcAft>
                <a:spcPts val="0"/>
              </a:spcAft>
            </a:pPr>
            <a:r>
              <a:rPr sz="1150" b="0">
                <a:solidFill>
                  <a:srgbClr val="6E6E88"/>
                </a:solidFill>
                <a:latin typeface="Segoe UI"/>
              </a:rPr>
              <a:t>The model must have read a file this session before it may change it, which removes a class of invented edits.</a:t>
            </a:r>
          </a:p>
        </p:txBody>
      </p:sp>
      <p:sp>
        <p:nvSpPr>
          <p:cNvPr id="17" name="Rectangle 16"/>
          <p:cNvSpPr/>
          <p:nvPr/>
        </p:nvSpPr>
        <p:spPr>
          <a:xfrm>
            <a:off x="8074152" y="4617720"/>
            <a:ext cx="50292" cy="132588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0183" y="4617720"/>
            <a:ext cx="2971800" cy="411480"/>
          </a:xfrm>
          <a:prstGeom prst="rect">
            <a:avLst/>
          </a:prstGeom>
          <a:noFill/>
        </p:spPr>
        <p:txBody>
          <a:bodyPr wrap="square" lIns="0" rIns="0" tIns="0" bIns="0" anchor="t">
            <a:spAutoFit/>
          </a:bodyPr>
          <a:lstStyle/>
          <a:p>
            <a:pPr algn="l">
              <a:spcBef>
                <a:spcPts val="0"/>
              </a:spcBef>
              <a:spcAft>
                <a:spcPts val="0"/>
              </a:spcAft>
            </a:pPr>
            <a:r>
              <a:rPr sz="1450" b="1">
                <a:solidFill>
                  <a:srgbClr val="141424"/>
                </a:solidFill>
                <a:latin typeface="Segoe UI"/>
              </a:rPr>
              <a:t>An audit log</a:t>
            </a:r>
          </a:p>
        </p:txBody>
      </p:sp>
      <p:sp>
        <p:nvSpPr>
          <p:cNvPr id="19" name="TextBox 18"/>
          <p:cNvSpPr txBox="1"/>
          <p:nvPr/>
        </p:nvSpPr>
        <p:spPr>
          <a:xfrm>
            <a:off x="8330183" y="5001768"/>
            <a:ext cx="3017520" cy="960119"/>
          </a:xfrm>
          <a:prstGeom prst="rect">
            <a:avLst/>
          </a:prstGeom>
          <a:noFill/>
        </p:spPr>
        <p:txBody>
          <a:bodyPr wrap="square" lIns="0" rIns="0" tIns="0" bIns="0" anchor="t">
            <a:spAutoFit/>
          </a:bodyPr>
          <a:lstStyle/>
          <a:p>
            <a:pPr algn="l">
              <a:lnSpc>
                <a:spcPct val="130000"/>
              </a:lnSpc>
              <a:spcBef>
                <a:spcPts val="0"/>
              </a:spcBef>
              <a:spcAft>
                <a:spcPts val="0"/>
              </a:spcAft>
            </a:pPr>
            <a:r>
              <a:rPr sz="1150" b="0">
                <a:solidFill>
                  <a:srgbClr val="6E6E88"/>
                </a:solidFill>
                <a:latin typeface="Segoe UI"/>
              </a:rPr>
              <a:t>Every tool run and token acquisition is recorded — timestamped, and never containing the token itself.</a:t>
            </a:r>
          </a:p>
        </p:txBody>
      </p:sp>
      <p:sp>
        <p:nvSpPr>
          <p:cNvPr id="20" name="TextBox 19"/>
          <p:cNvSpPr txBox="1"/>
          <p:nvPr/>
        </p:nvSpPr>
        <p:spPr>
          <a:xfrm>
            <a:off x="777240" y="6455664"/>
            <a:ext cx="3657600" cy="274320"/>
          </a:xfrm>
          <a:prstGeom prst="rect">
            <a:avLst/>
          </a:prstGeom>
          <a:noFill/>
        </p:spPr>
        <p:txBody>
          <a:bodyPr wrap="square" lIns="0" rIns="0" tIns="0" bIns="0" anchor="t">
            <a:spAutoFit/>
          </a:bodyPr>
          <a:lstStyle/>
          <a:p>
            <a:pPr algn="l">
              <a:spcBef>
                <a:spcPts val="0"/>
              </a:spcBef>
              <a:spcAft>
                <a:spcPts val="0"/>
              </a:spcAft>
            </a:pPr>
            <a:r>
              <a:rPr sz="1000" b="0">
                <a:solidFill>
                  <a:srgbClr val="6E6E88"/>
                </a:solidFill>
                <a:latin typeface="Segoe UI"/>
              </a:rPr>
              <a:t>Light Code</a:t>
            </a:r>
          </a:p>
        </p:txBody>
      </p:sp>
      <p:sp>
        <p:nvSpPr>
          <p:cNvPr id="21" name="TextBox 20"/>
          <p:cNvSpPr txBox="1"/>
          <p:nvPr/>
        </p:nvSpPr>
        <p:spPr>
          <a:xfrm>
            <a:off x="10500055" y="6455664"/>
            <a:ext cx="914400" cy="274320"/>
          </a:xfrm>
          <a:prstGeom prst="rect">
            <a:avLst/>
          </a:prstGeom>
          <a:noFill/>
        </p:spPr>
        <p:txBody>
          <a:bodyPr wrap="square" lIns="0" rIns="0" tIns="0" bIns="0" anchor="t">
            <a:spAutoFit/>
          </a:bodyPr>
          <a:lstStyle/>
          <a:p>
            <a:pPr algn="r">
              <a:spcBef>
                <a:spcPts val="0"/>
              </a:spcBef>
              <a:spcAft>
                <a:spcPts val="0"/>
              </a:spcAft>
            </a:pPr>
            <a:r>
              <a:rPr sz="1000" b="0">
                <a:solidFill>
                  <a:srgbClr val="6E6E88"/>
                </a:solidFill>
                <a:latin typeface="Segoe U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77240" y="566928"/>
            <a:ext cx="566928" cy="6858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86384"/>
            <a:ext cx="10637215" cy="365760"/>
          </a:xfrm>
          <a:prstGeom prst="rect">
            <a:avLst/>
          </a:prstGeom>
          <a:noFill/>
        </p:spPr>
        <p:txBody>
          <a:bodyPr wrap="square" lIns="0" rIns="0" tIns="0" bIns="0" anchor="t">
            <a:spAutoFit/>
          </a:bodyPr>
          <a:lstStyle/>
          <a:p>
            <a:pPr algn="l">
              <a:spcBef>
                <a:spcPts val="0"/>
              </a:spcBef>
              <a:spcAft>
                <a:spcPts val="0"/>
              </a:spcAft>
            </a:pPr>
            <a:r>
              <a:rPr sz="1250" b="1">
                <a:solidFill>
                  <a:srgbClr val="A855F7"/>
                </a:solidFill>
                <a:latin typeface="Segoe UI"/>
              </a:rPr>
              <a:t>A THREAT MOST TOOLS IGNORE</a:t>
            </a:r>
          </a:p>
        </p:txBody>
      </p:sp>
      <p:sp>
        <p:nvSpPr>
          <p:cNvPr id="4" name="TextBox 3"/>
          <p:cNvSpPr txBox="1"/>
          <p:nvPr/>
        </p:nvSpPr>
        <p:spPr>
          <a:xfrm>
            <a:off x="777240" y="1188720"/>
            <a:ext cx="10637215" cy="1143000"/>
          </a:xfrm>
          <a:prstGeom prst="rect">
            <a:avLst/>
          </a:prstGeom>
          <a:noFill/>
        </p:spPr>
        <p:txBody>
          <a:bodyPr wrap="square" lIns="0" rIns="0" tIns="0" bIns="0" anchor="t">
            <a:spAutoFit/>
          </a:bodyPr>
          <a:lstStyle/>
          <a:p>
            <a:pPr algn="l">
              <a:lnSpc>
                <a:spcPct val="106000"/>
              </a:lnSpc>
              <a:spcBef>
                <a:spcPts val="0"/>
              </a:spcBef>
              <a:spcAft>
                <a:spcPts val="0"/>
              </a:spcAft>
            </a:pPr>
            <a:r>
              <a:rPr sz="3300" b="1">
                <a:solidFill>
                  <a:srgbClr val="141424"/>
                </a:solidFill>
                <a:latin typeface="Segoe UI"/>
              </a:rPr>
              <a:t>Cloning a repository cannot reconfigure it</a:t>
            </a:r>
          </a:p>
        </p:txBody>
      </p:sp>
      <p:sp>
        <p:nvSpPr>
          <p:cNvPr id="5" name="TextBox 4"/>
          <p:cNvSpPr txBox="1"/>
          <p:nvPr/>
        </p:nvSpPr>
        <p:spPr>
          <a:xfrm>
            <a:off x="777240" y="2011680"/>
            <a:ext cx="10637215" cy="457200"/>
          </a:xfrm>
          <a:prstGeom prst="rect">
            <a:avLst/>
          </a:prstGeom>
          <a:noFill/>
        </p:spPr>
        <p:txBody>
          <a:bodyPr wrap="square" lIns="0" rIns="0" tIns="0" bIns="0" anchor="t">
            <a:spAutoFit/>
          </a:bodyPr>
          <a:lstStyle/>
          <a:p>
            <a:pPr algn="l">
              <a:lnSpc>
                <a:spcPct val="130000"/>
              </a:lnSpc>
              <a:spcBef>
                <a:spcPts val="0"/>
              </a:spcBef>
              <a:spcAft>
                <a:spcPts val="0"/>
              </a:spcAft>
            </a:pPr>
            <a:r>
              <a:rPr sz="1550" b="0">
                <a:solidFill>
                  <a:srgbClr val="6E6E88"/>
                </a:solidFill>
                <a:latin typeface="Segoe UI"/>
              </a:rPr>
              <a:t>Project settings normally travel with the project — which means a repository you cloned this morning could point your assistant somewhere else.</a:t>
            </a:r>
          </a:p>
        </p:txBody>
      </p:sp>
      <p:sp>
        <p:nvSpPr>
          <p:cNvPr id="6" name="Rounded Rectangle 5"/>
          <p:cNvSpPr/>
          <p:nvPr/>
        </p:nvSpPr>
        <p:spPr>
          <a:xfrm>
            <a:off x="777240" y="2624328"/>
            <a:ext cx="3246120" cy="2697480"/>
          </a:xfrm>
          <a:prstGeom prst="roundRect">
            <a:avLst/>
          </a:prstGeom>
          <a:solidFill>
            <a:srgbClr val="F5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80" y="2898648"/>
            <a:ext cx="365760" cy="5029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3099816"/>
            <a:ext cx="2606039" cy="685800"/>
          </a:xfrm>
          <a:prstGeom prst="rect">
            <a:avLst/>
          </a:prstGeom>
          <a:noFill/>
        </p:spPr>
        <p:txBody>
          <a:bodyPr wrap="square" lIns="0" rIns="0" tIns="0" bIns="0" anchor="t">
            <a:spAutoFit/>
          </a:bodyPr>
          <a:lstStyle/>
          <a:p>
            <a:pPr algn="l">
              <a:lnSpc>
                <a:spcPct val="115000"/>
              </a:lnSpc>
              <a:spcBef>
                <a:spcPts val="0"/>
              </a:spcBef>
              <a:spcAft>
                <a:spcPts val="0"/>
              </a:spcAft>
            </a:pPr>
            <a:r>
              <a:rPr sz="1550" b="1">
                <a:solidFill>
                  <a:srgbClr val="141424"/>
                </a:solidFill>
                <a:latin typeface="Segoe UI"/>
              </a:rPr>
              <a:t>Credentials stay yours</a:t>
            </a:r>
          </a:p>
        </p:txBody>
      </p:sp>
      <p:sp>
        <p:nvSpPr>
          <p:cNvPr id="9" name="TextBox 8"/>
          <p:cNvSpPr txBox="1"/>
          <p:nvPr/>
        </p:nvSpPr>
        <p:spPr>
          <a:xfrm>
            <a:off x="1097280" y="3831336"/>
            <a:ext cx="2606039" cy="1325880"/>
          </a:xfrm>
          <a:prstGeom prst="rect">
            <a:avLst/>
          </a:prstGeom>
          <a:noFill/>
        </p:spPr>
        <p:txBody>
          <a:bodyPr wrap="square" lIns="0" rIns="0" tIns="0" bIns="0" anchor="t">
            <a:spAutoFit/>
          </a:bodyPr>
          <a:lstStyle/>
          <a:p>
            <a:pPr algn="l">
              <a:lnSpc>
                <a:spcPct val="132000"/>
              </a:lnSpc>
              <a:spcBef>
                <a:spcPts val="0"/>
              </a:spcBef>
              <a:spcAft>
                <a:spcPts val="0"/>
              </a:spcAft>
            </a:pPr>
            <a:r>
              <a:rPr sz="1150" b="0">
                <a:solidFill>
                  <a:srgbClr val="3C3C52"/>
                </a:solidFill>
                <a:latin typeface="Segoe UI"/>
              </a:rPr>
              <a:t>Provider profiles, the active profile and certificate directories are user-scope only. A workspace naming its own gateway is ignored, and flagged in the interface.</a:t>
            </a:r>
          </a:p>
        </p:txBody>
      </p:sp>
      <p:sp>
        <p:nvSpPr>
          <p:cNvPr id="10" name="Rounded Rectangle 9"/>
          <p:cNvSpPr/>
          <p:nvPr/>
        </p:nvSpPr>
        <p:spPr>
          <a:xfrm>
            <a:off x="4425696" y="2624328"/>
            <a:ext cx="3246120" cy="2697480"/>
          </a:xfrm>
          <a:prstGeom prst="roundRect">
            <a:avLst/>
          </a:prstGeom>
          <a:solidFill>
            <a:srgbClr val="F5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45736" y="2898648"/>
            <a:ext cx="365760" cy="5029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45736" y="3099816"/>
            <a:ext cx="2606039" cy="685800"/>
          </a:xfrm>
          <a:prstGeom prst="rect">
            <a:avLst/>
          </a:prstGeom>
          <a:noFill/>
        </p:spPr>
        <p:txBody>
          <a:bodyPr wrap="square" lIns="0" rIns="0" tIns="0" bIns="0" anchor="t">
            <a:spAutoFit/>
          </a:bodyPr>
          <a:lstStyle/>
          <a:p>
            <a:pPr algn="l">
              <a:lnSpc>
                <a:spcPct val="115000"/>
              </a:lnSpc>
              <a:spcBef>
                <a:spcPts val="0"/>
              </a:spcBef>
              <a:spcAft>
                <a:spcPts val="0"/>
              </a:spcAft>
            </a:pPr>
            <a:r>
              <a:rPr sz="1550" b="1">
                <a:solidFill>
                  <a:srgbClr val="141424"/>
                </a:solidFill>
                <a:latin typeface="Segoe UI"/>
              </a:rPr>
              <a:t>Approvals cannot be pre-granted</a:t>
            </a:r>
          </a:p>
        </p:txBody>
      </p:sp>
      <p:sp>
        <p:nvSpPr>
          <p:cNvPr id="13" name="TextBox 12"/>
          <p:cNvSpPr txBox="1"/>
          <p:nvPr/>
        </p:nvSpPr>
        <p:spPr>
          <a:xfrm>
            <a:off x="4745736" y="3831336"/>
            <a:ext cx="2606039" cy="1325880"/>
          </a:xfrm>
          <a:prstGeom prst="rect">
            <a:avLst/>
          </a:prstGeom>
          <a:noFill/>
        </p:spPr>
        <p:txBody>
          <a:bodyPr wrap="square" lIns="0" rIns="0" tIns="0" bIns="0" anchor="t">
            <a:spAutoFit/>
          </a:bodyPr>
          <a:lstStyle/>
          <a:p>
            <a:pPr algn="l">
              <a:lnSpc>
                <a:spcPct val="132000"/>
              </a:lnSpc>
              <a:spcBef>
                <a:spcPts val="0"/>
              </a:spcBef>
              <a:spcAft>
                <a:spcPts val="0"/>
              </a:spcAft>
            </a:pPr>
            <a:r>
              <a:rPr sz="1150" b="0">
                <a:solidFill>
                  <a:srgbClr val="3C3C52"/>
                </a:solidFill>
                <a:latin typeface="Segoe UI"/>
              </a:rPr>
              <a:t>“Always allow” lists live on your side of the line, keyed by workspace. A repository cannot arrive with its own shell commands already approved.</a:t>
            </a:r>
          </a:p>
        </p:txBody>
      </p:sp>
      <p:sp>
        <p:nvSpPr>
          <p:cNvPr id="14" name="Rounded Rectangle 13"/>
          <p:cNvSpPr/>
          <p:nvPr/>
        </p:nvSpPr>
        <p:spPr>
          <a:xfrm>
            <a:off x="8074152" y="2624328"/>
            <a:ext cx="3246120" cy="2697480"/>
          </a:xfrm>
          <a:prstGeom prst="roundRect">
            <a:avLst/>
          </a:prstGeom>
          <a:solidFill>
            <a:srgbClr val="F5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94192" y="2898648"/>
            <a:ext cx="365760" cy="5029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94192" y="3099816"/>
            <a:ext cx="2606039" cy="685800"/>
          </a:xfrm>
          <a:prstGeom prst="rect">
            <a:avLst/>
          </a:prstGeom>
          <a:noFill/>
        </p:spPr>
        <p:txBody>
          <a:bodyPr wrap="square" lIns="0" rIns="0" tIns="0" bIns="0" anchor="t">
            <a:spAutoFit/>
          </a:bodyPr>
          <a:lstStyle/>
          <a:p>
            <a:pPr algn="l">
              <a:lnSpc>
                <a:spcPct val="115000"/>
              </a:lnSpc>
              <a:spcBef>
                <a:spcPts val="0"/>
              </a:spcBef>
              <a:spcAft>
                <a:spcPts val="0"/>
              </a:spcAft>
            </a:pPr>
            <a:r>
              <a:rPr sz="1550" b="1">
                <a:solidFill>
                  <a:srgbClr val="141424"/>
                </a:solidFill>
                <a:latin typeface="Segoe UI"/>
              </a:rPr>
              <a:t>Indexing cannot be redirected</a:t>
            </a:r>
          </a:p>
        </p:txBody>
      </p:sp>
      <p:sp>
        <p:nvSpPr>
          <p:cNvPr id="17" name="TextBox 16"/>
          <p:cNvSpPr txBox="1"/>
          <p:nvPr/>
        </p:nvSpPr>
        <p:spPr>
          <a:xfrm>
            <a:off x="8394192" y="3831336"/>
            <a:ext cx="2606039" cy="1325880"/>
          </a:xfrm>
          <a:prstGeom prst="rect">
            <a:avLst/>
          </a:prstGeom>
          <a:noFill/>
        </p:spPr>
        <p:txBody>
          <a:bodyPr wrap="square" lIns="0" rIns="0" tIns="0" bIns="0" anchor="t">
            <a:spAutoFit/>
          </a:bodyPr>
          <a:lstStyle/>
          <a:p>
            <a:pPr algn="l">
              <a:lnSpc>
                <a:spcPct val="132000"/>
              </a:lnSpc>
              <a:spcBef>
                <a:spcPts val="0"/>
              </a:spcBef>
              <a:spcAft>
                <a:spcPts val="0"/>
              </a:spcAft>
            </a:pPr>
            <a:r>
              <a:rPr sz="1150" b="0">
                <a:solidFill>
                  <a:srgbClr val="3C3C52"/>
                </a:solidFill>
                <a:latin typeface="Segoe UI"/>
              </a:rPr>
              <a:t>If a repository could set the embedding endpoint, opening it would send your source somewhere of its choosing. That setting is user-scope only too.</a:t>
            </a:r>
          </a:p>
        </p:txBody>
      </p:sp>
      <p:sp>
        <p:nvSpPr>
          <p:cNvPr id="18" name="TextBox 17"/>
          <p:cNvSpPr txBox="1"/>
          <p:nvPr/>
        </p:nvSpPr>
        <p:spPr>
          <a:xfrm>
            <a:off x="777240" y="6455664"/>
            <a:ext cx="3657600" cy="274320"/>
          </a:xfrm>
          <a:prstGeom prst="rect">
            <a:avLst/>
          </a:prstGeom>
          <a:noFill/>
        </p:spPr>
        <p:txBody>
          <a:bodyPr wrap="square" lIns="0" rIns="0" tIns="0" bIns="0" anchor="t">
            <a:spAutoFit/>
          </a:bodyPr>
          <a:lstStyle/>
          <a:p>
            <a:pPr algn="l">
              <a:spcBef>
                <a:spcPts val="0"/>
              </a:spcBef>
              <a:spcAft>
                <a:spcPts val="0"/>
              </a:spcAft>
            </a:pPr>
            <a:r>
              <a:rPr sz="1000" b="0">
                <a:solidFill>
                  <a:srgbClr val="6E6E88"/>
                </a:solidFill>
                <a:latin typeface="Segoe UI"/>
              </a:rPr>
              <a:t>Light Code</a:t>
            </a:r>
          </a:p>
        </p:txBody>
      </p:sp>
      <p:sp>
        <p:nvSpPr>
          <p:cNvPr id="19" name="TextBox 18"/>
          <p:cNvSpPr txBox="1"/>
          <p:nvPr/>
        </p:nvSpPr>
        <p:spPr>
          <a:xfrm>
            <a:off x="10500055" y="6455664"/>
            <a:ext cx="914400" cy="274320"/>
          </a:xfrm>
          <a:prstGeom prst="rect">
            <a:avLst/>
          </a:prstGeom>
          <a:noFill/>
        </p:spPr>
        <p:txBody>
          <a:bodyPr wrap="square" lIns="0" rIns="0" tIns="0" bIns="0" anchor="t">
            <a:spAutoFit/>
          </a:bodyPr>
          <a:lstStyle/>
          <a:p>
            <a:pPr algn="r">
              <a:spcBef>
                <a:spcPts val="0"/>
              </a:spcBef>
              <a:spcAft>
                <a:spcPts val="0"/>
              </a:spcAft>
            </a:pPr>
            <a:r>
              <a:rPr sz="1000" b="0">
                <a:solidFill>
                  <a:srgbClr val="6E6E88"/>
                </a:solidFill>
                <a:latin typeface="Segoe U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77240" y="566928"/>
            <a:ext cx="566928" cy="6858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86384"/>
            <a:ext cx="10637215" cy="365760"/>
          </a:xfrm>
          <a:prstGeom prst="rect">
            <a:avLst/>
          </a:prstGeom>
          <a:noFill/>
        </p:spPr>
        <p:txBody>
          <a:bodyPr wrap="square" lIns="0" rIns="0" tIns="0" bIns="0" anchor="t">
            <a:spAutoFit/>
          </a:bodyPr>
          <a:lstStyle/>
          <a:p>
            <a:pPr algn="l">
              <a:spcBef>
                <a:spcPts val="0"/>
              </a:spcBef>
              <a:spcAft>
                <a:spcPts val="0"/>
              </a:spcAft>
            </a:pPr>
            <a:r>
              <a:rPr sz="1250" b="1">
                <a:solidFill>
                  <a:srgbClr val="A855F7"/>
                </a:solidFill>
                <a:latin typeface="Segoe UI"/>
              </a:rPr>
              <a:t>MAKING IT YOURS</a:t>
            </a:r>
          </a:p>
        </p:txBody>
      </p:sp>
      <p:sp>
        <p:nvSpPr>
          <p:cNvPr id="4" name="TextBox 3"/>
          <p:cNvSpPr txBox="1"/>
          <p:nvPr/>
        </p:nvSpPr>
        <p:spPr>
          <a:xfrm>
            <a:off x="777240" y="1188720"/>
            <a:ext cx="10637215" cy="1143000"/>
          </a:xfrm>
          <a:prstGeom prst="rect">
            <a:avLst/>
          </a:prstGeom>
          <a:noFill/>
        </p:spPr>
        <p:txBody>
          <a:bodyPr wrap="square" lIns="0" rIns="0" tIns="0" bIns="0" anchor="t">
            <a:spAutoFit/>
          </a:bodyPr>
          <a:lstStyle/>
          <a:p>
            <a:pPr algn="l">
              <a:lnSpc>
                <a:spcPct val="106000"/>
              </a:lnSpc>
              <a:spcBef>
                <a:spcPts val="0"/>
              </a:spcBef>
              <a:spcAft>
                <a:spcPts val="0"/>
              </a:spcAft>
            </a:pPr>
            <a:r>
              <a:rPr sz="3300" b="1">
                <a:solidFill>
                  <a:srgbClr val="141424"/>
                </a:solidFill>
                <a:latin typeface="Segoe UI"/>
              </a:rPr>
              <a:t>It learns your conventions, and writes its own tools</a:t>
            </a:r>
          </a:p>
        </p:txBody>
      </p:sp>
      <p:sp>
        <p:nvSpPr>
          <p:cNvPr id="5" name="TextBox 4"/>
          <p:cNvSpPr txBox="1"/>
          <p:nvPr/>
        </p:nvSpPr>
        <p:spPr>
          <a:xfrm>
            <a:off x="777240" y="2011680"/>
            <a:ext cx="10637215" cy="457200"/>
          </a:xfrm>
          <a:prstGeom prst="rect">
            <a:avLst/>
          </a:prstGeom>
          <a:noFill/>
        </p:spPr>
        <p:txBody>
          <a:bodyPr wrap="square" lIns="0" rIns="0" tIns="0" bIns="0" anchor="t">
            <a:spAutoFit/>
          </a:bodyPr>
          <a:lstStyle/>
          <a:p>
            <a:pPr algn="l">
              <a:lnSpc>
                <a:spcPct val="130000"/>
              </a:lnSpc>
              <a:spcBef>
                <a:spcPts val="0"/>
              </a:spcBef>
              <a:spcAft>
                <a:spcPts val="0"/>
              </a:spcAft>
            </a:pPr>
            <a:r>
              <a:rPr sz="1550" b="0">
                <a:solidFill>
                  <a:srgbClr val="6E6E88"/>
                </a:solidFill>
                <a:latin typeface="Segoe UI"/>
              </a:rPr>
              <a:t>Neither of these existed in the tool Light Code was modelled on. Together they are how it stops being generic.</a:t>
            </a:r>
          </a:p>
        </p:txBody>
      </p:sp>
      <p:sp>
        <p:nvSpPr>
          <p:cNvPr id="6" name="Rounded Rectangle 5"/>
          <p:cNvSpPr/>
          <p:nvPr/>
        </p:nvSpPr>
        <p:spPr>
          <a:xfrm>
            <a:off x="777240" y="2578608"/>
            <a:ext cx="5120640" cy="3493008"/>
          </a:xfrm>
          <a:prstGeom prst="roundRect">
            <a:avLst/>
          </a:prstGeom>
          <a:solidFill>
            <a:srgbClr val="F5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43000" y="2871216"/>
            <a:ext cx="365760" cy="5029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3072384"/>
            <a:ext cx="4389120" cy="457200"/>
          </a:xfrm>
          <a:prstGeom prst="rect">
            <a:avLst/>
          </a:prstGeom>
          <a:noFill/>
        </p:spPr>
        <p:txBody>
          <a:bodyPr wrap="square" lIns="0" rIns="0" tIns="0" bIns="0" anchor="t">
            <a:spAutoFit/>
          </a:bodyPr>
          <a:lstStyle/>
          <a:p>
            <a:pPr algn="l">
              <a:spcBef>
                <a:spcPts val="0"/>
              </a:spcBef>
              <a:spcAft>
                <a:spcPts val="0"/>
              </a:spcAft>
            </a:pPr>
            <a:r>
              <a:rPr sz="1700" b="1">
                <a:solidFill>
                  <a:srgbClr val="141424"/>
                </a:solidFill>
                <a:latin typeface="Segoe UI"/>
              </a:rPr>
              <a:t>Skills — teach it what it cannot infer</a:t>
            </a:r>
          </a:p>
        </p:txBody>
      </p:sp>
      <p:sp>
        <p:nvSpPr>
          <p:cNvPr id="9" name="TextBox 8"/>
          <p:cNvSpPr txBox="1"/>
          <p:nvPr/>
        </p:nvSpPr>
        <p:spPr>
          <a:xfrm>
            <a:off x="1143000" y="3602736"/>
            <a:ext cx="4434840" cy="2103120"/>
          </a:xfrm>
          <a:prstGeom prst="rect">
            <a:avLst/>
          </a:prstGeom>
          <a:noFill/>
        </p:spPr>
        <p:txBody>
          <a:bodyPr wrap="square" lIns="0" rIns="0" tIns="0" bIns="0" anchor="t">
            <a:spAutoFit/>
          </a:bodyPr>
          <a:lstStyle/>
          <a:p>
            <a:pPr algn="l">
              <a:lnSpc>
                <a:spcPct val="132000"/>
              </a:lnSpc>
              <a:spcBef>
                <a:spcPts val="0"/>
              </a:spcBef>
              <a:spcAft>
                <a:spcPts val="0"/>
              </a:spcAft>
            </a:pPr>
            <a:r>
              <a:rPr sz="1200" b="0">
                <a:solidFill>
                  <a:srgbClr val="3C3C52"/>
                </a:solidFill>
                <a:latin typeface="Segoe UI"/>
              </a:rPr>
              <a:t>Plain Markdown in the repository: your internal libraries, your conventions, the thing every new joiner gets told in their first week.</a:t>
            </a:r>
          </a:p>
          <a:p>
            <a:pPr>
              <a:lnSpc>
                <a:spcPct val="132000"/>
              </a:lnSpc>
              <a:spcBef>
                <a:spcPts val="900"/>
              </a:spcBef>
              <a:spcAft>
                <a:spcPts val="0"/>
              </a:spcAft>
            </a:pPr>
            <a:r>
              <a:rPr sz="1200" b="0">
                <a:solidFill>
                  <a:srgbClr val="3C3C52"/>
                </a:solidFill>
                <a:latin typeface="Segoe UI"/>
              </a:rPr>
              <a:t>Only a name and one line each sit in the prompt; the body is read when it is actually needed, so a hundred skills cost almost nothing.</a:t>
            </a:r>
          </a:p>
          <a:p>
            <a:pPr>
              <a:lnSpc>
                <a:spcPct val="132000"/>
              </a:lnSpc>
              <a:spcBef>
                <a:spcPts val="900"/>
              </a:spcBef>
              <a:spcAft>
                <a:spcPts val="0"/>
              </a:spcAft>
            </a:pPr>
            <a:r>
              <a:rPr sz="1200" b="0">
                <a:solidFill>
                  <a:srgbClr val="3C3C52"/>
                </a:solidFill>
                <a:latin typeface="Segoe UI"/>
              </a:rPr>
              <a:t>It offers to write one when you explain something durable, and to correct one when the code moves on — a stale skill is worse than a missing one.</a:t>
            </a:r>
          </a:p>
        </p:txBody>
      </p:sp>
      <p:sp>
        <p:nvSpPr>
          <p:cNvPr id="10" name="Rounded Rectangle 9"/>
          <p:cNvSpPr/>
          <p:nvPr/>
        </p:nvSpPr>
        <p:spPr>
          <a:xfrm>
            <a:off x="6199631" y="2578608"/>
            <a:ext cx="5120640" cy="3493008"/>
          </a:xfrm>
          <a:prstGeom prst="roundRect">
            <a:avLst/>
          </a:prstGeom>
          <a:solidFill>
            <a:srgbClr val="F5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65392" y="2871216"/>
            <a:ext cx="365760" cy="5029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65392" y="3072384"/>
            <a:ext cx="4389120" cy="457200"/>
          </a:xfrm>
          <a:prstGeom prst="rect">
            <a:avLst/>
          </a:prstGeom>
          <a:noFill/>
        </p:spPr>
        <p:txBody>
          <a:bodyPr wrap="square" lIns="0" rIns="0" tIns="0" bIns="0" anchor="t">
            <a:spAutoFit/>
          </a:bodyPr>
          <a:lstStyle/>
          <a:p>
            <a:pPr algn="l">
              <a:spcBef>
                <a:spcPts val="0"/>
              </a:spcBef>
              <a:spcAft>
                <a:spcPts val="0"/>
              </a:spcAft>
            </a:pPr>
            <a:r>
              <a:rPr sz="1700" b="1">
                <a:solidFill>
                  <a:srgbClr val="141424"/>
                </a:solidFill>
                <a:latin typeface="Segoe UI"/>
              </a:rPr>
              <a:t>Python tools — it builds what it lacks</a:t>
            </a:r>
          </a:p>
        </p:txBody>
      </p:sp>
      <p:sp>
        <p:nvSpPr>
          <p:cNvPr id="13" name="TextBox 12"/>
          <p:cNvSpPr txBox="1"/>
          <p:nvPr/>
        </p:nvSpPr>
        <p:spPr>
          <a:xfrm>
            <a:off x="6565392" y="3602736"/>
            <a:ext cx="4434840" cy="2103120"/>
          </a:xfrm>
          <a:prstGeom prst="rect">
            <a:avLst/>
          </a:prstGeom>
          <a:noFill/>
        </p:spPr>
        <p:txBody>
          <a:bodyPr wrap="square" lIns="0" rIns="0" tIns="0" bIns="0" anchor="t">
            <a:spAutoFit/>
          </a:bodyPr>
          <a:lstStyle/>
          <a:p>
            <a:pPr algn="l">
              <a:lnSpc>
                <a:spcPct val="132000"/>
              </a:lnSpc>
              <a:spcBef>
                <a:spcPts val="0"/>
              </a:spcBef>
              <a:spcAft>
                <a:spcPts val="0"/>
              </a:spcAft>
            </a:pPr>
            <a:r>
              <a:rPr sz="1200" b="0">
                <a:solidFill>
                  <a:srgbClr val="3C3C52"/>
                </a:solidFill>
                <a:latin typeface="Segoe UI"/>
              </a:rPr>
              <a:t>The assistant writes a tool, you approve the full source, and it becomes callable from the next message onward.</a:t>
            </a:r>
          </a:p>
          <a:p>
            <a:pPr>
              <a:lnSpc>
                <a:spcPct val="132000"/>
              </a:lnSpc>
              <a:spcBef>
                <a:spcPts val="900"/>
              </a:spcBef>
              <a:spcAft>
                <a:spcPts val="0"/>
              </a:spcAft>
            </a:pPr>
            <a:r>
              <a:rPr sz="1200" b="0">
                <a:solidFill>
                  <a:srgbClr val="3C3C52"/>
                </a:solidFill>
                <a:latin typeface="Segoe UI"/>
              </a:rPr>
              <a:t>Dependencies are declared in the file and installed from an index you name. The schema comes from the type hints, so it cannot drift from the code.</a:t>
            </a:r>
          </a:p>
          <a:p>
            <a:pPr>
              <a:lnSpc>
                <a:spcPct val="132000"/>
              </a:lnSpc>
              <a:spcBef>
                <a:spcPts val="900"/>
              </a:spcBef>
              <a:spcAft>
                <a:spcPts val="0"/>
              </a:spcAft>
            </a:pPr>
            <a:r>
              <a:rPr sz="1200" b="0">
                <a:solidFill>
                  <a:srgbClr val="3C3C52"/>
                </a:solidFill>
                <a:latin typeface="Segoe UI"/>
              </a:rPr>
              <a:t>Pinned by content hash: a file edited outside the approval is refused, not run. They live in the repository, so they are reviewed like any other code.</a:t>
            </a:r>
          </a:p>
        </p:txBody>
      </p:sp>
      <p:sp>
        <p:nvSpPr>
          <p:cNvPr id="14" name="TextBox 13"/>
          <p:cNvSpPr txBox="1"/>
          <p:nvPr/>
        </p:nvSpPr>
        <p:spPr>
          <a:xfrm>
            <a:off x="777240" y="6455664"/>
            <a:ext cx="3657600" cy="274320"/>
          </a:xfrm>
          <a:prstGeom prst="rect">
            <a:avLst/>
          </a:prstGeom>
          <a:noFill/>
        </p:spPr>
        <p:txBody>
          <a:bodyPr wrap="square" lIns="0" rIns="0" tIns="0" bIns="0" anchor="t">
            <a:spAutoFit/>
          </a:bodyPr>
          <a:lstStyle/>
          <a:p>
            <a:pPr algn="l">
              <a:spcBef>
                <a:spcPts val="0"/>
              </a:spcBef>
              <a:spcAft>
                <a:spcPts val="0"/>
              </a:spcAft>
            </a:pPr>
            <a:r>
              <a:rPr sz="1000" b="0">
                <a:solidFill>
                  <a:srgbClr val="6E6E88"/>
                </a:solidFill>
                <a:latin typeface="Segoe UI"/>
              </a:rPr>
              <a:t>Light Code</a:t>
            </a:r>
          </a:p>
        </p:txBody>
      </p:sp>
      <p:sp>
        <p:nvSpPr>
          <p:cNvPr id="15" name="TextBox 14"/>
          <p:cNvSpPr txBox="1"/>
          <p:nvPr/>
        </p:nvSpPr>
        <p:spPr>
          <a:xfrm>
            <a:off x="10500055" y="6455664"/>
            <a:ext cx="914400" cy="274320"/>
          </a:xfrm>
          <a:prstGeom prst="rect">
            <a:avLst/>
          </a:prstGeom>
          <a:noFill/>
        </p:spPr>
        <p:txBody>
          <a:bodyPr wrap="square" lIns="0" rIns="0" tIns="0" bIns="0" anchor="t">
            <a:spAutoFit/>
          </a:bodyPr>
          <a:lstStyle/>
          <a:p>
            <a:pPr algn="r">
              <a:spcBef>
                <a:spcPts val="0"/>
              </a:spcBef>
              <a:spcAft>
                <a:spcPts val="0"/>
              </a:spcAft>
            </a:pPr>
            <a:r>
              <a:rPr sz="1000" b="0">
                <a:solidFill>
                  <a:srgbClr val="6E6E88"/>
                </a:solidFill>
                <a:latin typeface="Segoe U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77240" y="566928"/>
            <a:ext cx="566928" cy="6858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86384"/>
            <a:ext cx="10637215" cy="365760"/>
          </a:xfrm>
          <a:prstGeom prst="rect">
            <a:avLst/>
          </a:prstGeom>
          <a:noFill/>
        </p:spPr>
        <p:txBody>
          <a:bodyPr wrap="square" lIns="0" rIns="0" tIns="0" bIns="0" anchor="t">
            <a:spAutoFit/>
          </a:bodyPr>
          <a:lstStyle/>
          <a:p>
            <a:pPr algn="l">
              <a:spcBef>
                <a:spcPts val="0"/>
              </a:spcBef>
              <a:spcAft>
                <a:spcPts val="0"/>
              </a:spcAft>
            </a:pPr>
            <a:r>
              <a:rPr sz="1250" b="1">
                <a:solidFill>
                  <a:srgbClr val="A855F7"/>
                </a:solidFill>
                <a:latin typeface="Segoe UI"/>
              </a:rPr>
              <a:t>BEYOND THE CODEBASE</a:t>
            </a:r>
          </a:p>
        </p:txBody>
      </p:sp>
      <p:sp>
        <p:nvSpPr>
          <p:cNvPr id="4" name="TextBox 3"/>
          <p:cNvSpPr txBox="1"/>
          <p:nvPr/>
        </p:nvSpPr>
        <p:spPr>
          <a:xfrm>
            <a:off x="777240" y="1188720"/>
            <a:ext cx="10637215" cy="1143000"/>
          </a:xfrm>
          <a:prstGeom prst="rect">
            <a:avLst/>
          </a:prstGeom>
          <a:noFill/>
        </p:spPr>
        <p:txBody>
          <a:bodyPr wrap="square" lIns="0" rIns="0" tIns="0" bIns="0" anchor="t">
            <a:spAutoFit/>
          </a:bodyPr>
          <a:lstStyle/>
          <a:p>
            <a:pPr algn="l">
              <a:lnSpc>
                <a:spcPct val="106000"/>
              </a:lnSpc>
              <a:spcBef>
                <a:spcPts val="0"/>
              </a:spcBef>
              <a:spcAft>
                <a:spcPts val="0"/>
              </a:spcAft>
            </a:pPr>
            <a:r>
              <a:rPr sz="3300" b="1">
                <a:solidFill>
                  <a:srgbClr val="141424"/>
                </a:solidFill>
                <a:latin typeface="Segoe UI"/>
              </a:rPr>
              <a:t>It works with the spreadsheet and mailbox you have open</a:t>
            </a:r>
          </a:p>
        </p:txBody>
      </p:sp>
      <p:sp>
        <p:nvSpPr>
          <p:cNvPr id="5" name="TextBox 4"/>
          <p:cNvSpPr txBox="1"/>
          <p:nvPr/>
        </p:nvSpPr>
        <p:spPr>
          <a:xfrm>
            <a:off x="777240" y="2011680"/>
            <a:ext cx="10637215" cy="457200"/>
          </a:xfrm>
          <a:prstGeom prst="rect">
            <a:avLst/>
          </a:prstGeom>
          <a:noFill/>
        </p:spPr>
        <p:txBody>
          <a:bodyPr wrap="square" lIns="0" rIns="0" tIns="0" bIns="0" anchor="t">
            <a:spAutoFit/>
          </a:bodyPr>
          <a:lstStyle/>
          <a:p>
            <a:pPr algn="l">
              <a:lnSpc>
                <a:spcPct val="130000"/>
              </a:lnSpc>
              <a:spcBef>
                <a:spcPts val="0"/>
              </a:spcBef>
              <a:spcAft>
                <a:spcPts val="0"/>
              </a:spcAft>
            </a:pPr>
            <a:r>
              <a:rPr sz="1550" b="0">
                <a:solidFill>
                  <a:srgbClr val="6E6E88"/>
                </a:solidFill>
                <a:latin typeface="Segoe UI"/>
              </a:rPr>
              <a:t>On Windows it attaches to a running Excel or Outlook — never launching one, never opening or saving a file behind your back. Both ship switched off.</a:t>
            </a:r>
          </a:p>
        </p:txBody>
      </p:sp>
      <p:sp>
        <p:nvSpPr>
          <p:cNvPr id="6" name="Rounded Rectangle 5"/>
          <p:cNvSpPr/>
          <p:nvPr/>
        </p:nvSpPr>
        <p:spPr>
          <a:xfrm>
            <a:off x="777240" y="2624328"/>
            <a:ext cx="3246120" cy="2377440"/>
          </a:xfrm>
          <a:prstGeom prst="roundRect">
            <a:avLst/>
          </a:prstGeom>
          <a:solidFill>
            <a:srgbClr val="F5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80" y="2898648"/>
            <a:ext cx="365760" cy="5029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3099816"/>
            <a:ext cx="2606039" cy="685800"/>
          </a:xfrm>
          <a:prstGeom prst="rect">
            <a:avLst/>
          </a:prstGeom>
          <a:noFill/>
        </p:spPr>
        <p:txBody>
          <a:bodyPr wrap="square" lIns="0" rIns="0" tIns="0" bIns="0" anchor="t">
            <a:spAutoFit/>
          </a:bodyPr>
          <a:lstStyle/>
          <a:p>
            <a:pPr algn="l">
              <a:lnSpc>
                <a:spcPct val="115000"/>
              </a:lnSpc>
              <a:spcBef>
                <a:spcPts val="0"/>
              </a:spcBef>
              <a:spcAft>
                <a:spcPts val="0"/>
              </a:spcAft>
            </a:pPr>
            <a:r>
              <a:rPr sz="1550" b="1">
                <a:solidFill>
                  <a:srgbClr val="141424"/>
                </a:solidFill>
                <a:latin typeface="Segoe UI"/>
              </a:rPr>
              <a:t>Why is this cell wrong?</a:t>
            </a:r>
          </a:p>
        </p:txBody>
      </p:sp>
      <p:sp>
        <p:nvSpPr>
          <p:cNvPr id="9" name="TextBox 8"/>
          <p:cNvSpPr txBox="1"/>
          <p:nvPr/>
        </p:nvSpPr>
        <p:spPr>
          <a:xfrm>
            <a:off x="1097280" y="3831336"/>
            <a:ext cx="2606039" cy="1005840"/>
          </a:xfrm>
          <a:prstGeom prst="rect">
            <a:avLst/>
          </a:prstGeom>
          <a:noFill/>
        </p:spPr>
        <p:txBody>
          <a:bodyPr wrap="square" lIns="0" rIns="0" tIns="0" bIns="0" anchor="t">
            <a:spAutoFit/>
          </a:bodyPr>
          <a:lstStyle/>
          <a:p>
            <a:pPr algn="l">
              <a:lnSpc>
                <a:spcPct val="132000"/>
              </a:lnSpc>
              <a:spcBef>
                <a:spcPts val="0"/>
              </a:spcBef>
              <a:spcAft>
                <a:spcPts val="0"/>
              </a:spcAft>
            </a:pPr>
            <a:r>
              <a:rPr sz="1150" b="0">
                <a:solidFill>
                  <a:srgbClr val="3C3C52"/>
                </a:solidFill>
                <a:latin typeface="Segoe UI"/>
              </a:rPr>
              <a:t>Traces a formula back through what feeds it, across sheets, to raw input — naming the individual cell in error, even inside a range of thousands.</a:t>
            </a:r>
          </a:p>
        </p:txBody>
      </p:sp>
      <p:sp>
        <p:nvSpPr>
          <p:cNvPr id="10" name="Rounded Rectangle 9"/>
          <p:cNvSpPr/>
          <p:nvPr/>
        </p:nvSpPr>
        <p:spPr>
          <a:xfrm>
            <a:off x="4425696" y="2624328"/>
            <a:ext cx="3246120" cy="2377440"/>
          </a:xfrm>
          <a:prstGeom prst="roundRect">
            <a:avLst/>
          </a:prstGeom>
          <a:solidFill>
            <a:srgbClr val="F5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45736" y="2898648"/>
            <a:ext cx="365760" cy="5029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45736" y="3099816"/>
            <a:ext cx="2606039" cy="685800"/>
          </a:xfrm>
          <a:prstGeom prst="rect">
            <a:avLst/>
          </a:prstGeom>
          <a:noFill/>
        </p:spPr>
        <p:txBody>
          <a:bodyPr wrap="square" lIns="0" rIns="0" tIns="0" bIns="0" anchor="t">
            <a:spAutoFit/>
          </a:bodyPr>
          <a:lstStyle/>
          <a:p>
            <a:pPr algn="l">
              <a:lnSpc>
                <a:spcPct val="115000"/>
              </a:lnSpc>
              <a:spcBef>
                <a:spcPts val="0"/>
              </a:spcBef>
              <a:spcAft>
                <a:spcPts val="0"/>
              </a:spcAft>
            </a:pPr>
            <a:r>
              <a:rPr sz="1550" b="1">
                <a:solidFill>
                  <a:srgbClr val="141424"/>
                </a:solidFill>
                <a:latin typeface="Segoe UI"/>
              </a:rPr>
              <a:t>Check a macro without running it</a:t>
            </a:r>
          </a:p>
        </p:txBody>
      </p:sp>
      <p:sp>
        <p:nvSpPr>
          <p:cNvPr id="13" name="TextBox 12"/>
          <p:cNvSpPr txBox="1"/>
          <p:nvPr/>
        </p:nvSpPr>
        <p:spPr>
          <a:xfrm>
            <a:off x="4745736" y="3831336"/>
            <a:ext cx="2606039" cy="1005840"/>
          </a:xfrm>
          <a:prstGeom prst="rect">
            <a:avLst/>
          </a:prstGeom>
          <a:noFill/>
        </p:spPr>
        <p:txBody>
          <a:bodyPr wrap="square" lIns="0" rIns="0" tIns="0" bIns="0" anchor="t">
            <a:spAutoFit/>
          </a:bodyPr>
          <a:lstStyle/>
          <a:p>
            <a:pPr algn="l">
              <a:lnSpc>
                <a:spcPct val="132000"/>
              </a:lnSpc>
              <a:spcBef>
                <a:spcPts val="0"/>
              </a:spcBef>
              <a:spcAft>
                <a:spcPts val="0"/>
              </a:spcAft>
            </a:pPr>
            <a:r>
              <a:rPr sz="1150" b="0">
                <a:solidFill>
                  <a:srgbClr val="3C3C52"/>
                </a:solidFill>
                <a:latin typeface="Segoe UI"/>
              </a:rPr>
              <a:t>Reports every fault it can see in VBA source rather than only the first. Running or writing a macro always asks, and the prompt shows the actual code.</a:t>
            </a:r>
          </a:p>
        </p:txBody>
      </p:sp>
      <p:sp>
        <p:nvSpPr>
          <p:cNvPr id="14" name="Rounded Rectangle 13"/>
          <p:cNvSpPr/>
          <p:nvPr/>
        </p:nvSpPr>
        <p:spPr>
          <a:xfrm>
            <a:off x="8074152" y="2624328"/>
            <a:ext cx="3246120" cy="2377440"/>
          </a:xfrm>
          <a:prstGeom prst="roundRect">
            <a:avLst/>
          </a:prstGeom>
          <a:solidFill>
            <a:srgbClr val="F5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94192" y="2898648"/>
            <a:ext cx="365760" cy="5029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94192" y="3099816"/>
            <a:ext cx="2606039" cy="685800"/>
          </a:xfrm>
          <a:prstGeom prst="rect">
            <a:avLst/>
          </a:prstGeom>
          <a:noFill/>
        </p:spPr>
        <p:txBody>
          <a:bodyPr wrap="square" lIns="0" rIns="0" tIns="0" bIns="0" anchor="t">
            <a:spAutoFit/>
          </a:bodyPr>
          <a:lstStyle/>
          <a:p>
            <a:pPr algn="l">
              <a:lnSpc>
                <a:spcPct val="115000"/>
              </a:lnSpc>
              <a:spcBef>
                <a:spcPts val="0"/>
              </a:spcBef>
              <a:spcAft>
                <a:spcPts val="0"/>
              </a:spcAft>
            </a:pPr>
            <a:r>
              <a:rPr sz="1550" b="1">
                <a:solidFill>
                  <a:srgbClr val="141424"/>
                </a:solidFill>
                <a:latin typeface="Segoe UI"/>
              </a:rPr>
              <a:t>Read mail as it was written</a:t>
            </a:r>
          </a:p>
        </p:txBody>
      </p:sp>
      <p:sp>
        <p:nvSpPr>
          <p:cNvPr id="17" name="TextBox 16"/>
          <p:cNvSpPr txBox="1"/>
          <p:nvPr/>
        </p:nvSpPr>
        <p:spPr>
          <a:xfrm>
            <a:off x="8394192" y="3831336"/>
            <a:ext cx="2606039" cy="1005840"/>
          </a:xfrm>
          <a:prstGeom prst="rect">
            <a:avLst/>
          </a:prstGeom>
          <a:noFill/>
        </p:spPr>
        <p:txBody>
          <a:bodyPr wrap="square" lIns="0" rIns="0" tIns="0" bIns="0" anchor="t">
            <a:spAutoFit/>
          </a:bodyPr>
          <a:lstStyle/>
          <a:p>
            <a:pPr algn="l">
              <a:lnSpc>
                <a:spcPct val="132000"/>
              </a:lnSpc>
              <a:spcBef>
                <a:spcPts val="0"/>
              </a:spcBef>
              <a:spcAft>
                <a:spcPts val="0"/>
              </a:spcAft>
            </a:pPr>
            <a:r>
              <a:rPr sz="1150" b="0">
                <a:solidFill>
                  <a:srgbClr val="3C3C52"/>
                </a:solidFill>
                <a:latin typeface="Segoe UI"/>
              </a:rPr>
              <a:t>Search a mailbox by time window and read a message with its formatting intact — because in work email the red line is often the message.</a:t>
            </a:r>
          </a:p>
        </p:txBody>
      </p:sp>
      <p:sp>
        <p:nvSpPr>
          <p:cNvPr id="18" name="TextBox 17"/>
          <p:cNvSpPr txBox="1"/>
          <p:nvPr/>
        </p:nvSpPr>
        <p:spPr>
          <a:xfrm>
            <a:off x="777240" y="5577840"/>
            <a:ext cx="10637215" cy="457200"/>
          </a:xfrm>
          <a:prstGeom prst="rect">
            <a:avLst/>
          </a:prstGeom>
          <a:noFill/>
        </p:spPr>
        <p:txBody>
          <a:bodyPr wrap="square" lIns="0" rIns="0" tIns="0" bIns="0" anchor="t">
            <a:spAutoFit/>
          </a:bodyPr>
          <a:lstStyle/>
          <a:p>
            <a:pPr algn="l">
              <a:spcBef>
                <a:spcPts val="0"/>
              </a:spcBef>
              <a:spcAft>
                <a:spcPts val="0"/>
              </a:spcAft>
            </a:pPr>
            <a:r>
              <a:rPr sz="1450" b="1">
                <a:solidFill>
                  <a:srgbClr val="4338CA"/>
                </a:solidFill>
                <a:latin typeface="Segoe UI"/>
              </a:rPr>
              <a:t>This is the capability that reaches people who do not write code for a living.</a:t>
            </a:r>
          </a:p>
        </p:txBody>
      </p:sp>
      <p:sp>
        <p:nvSpPr>
          <p:cNvPr id="19" name="TextBox 18"/>
          <p:cNvSpPr txBox="1"/>
          <p:nvPr/>
        </p:nvSpPr>
        <p:spPr>
          <a:xfrm>
            <a:off x="777240" y="6455664"/>
            <a:ext cx="3657600" cy="274320"/>
          </a:xfrm>
          <a:prstGeom prst="rect">
            <a:avLst/>
          </a:prstGeom>
          <a:noFill/>
        </p:spPr>
        <p:txBody>
          <a:bodyPr wrap="square" lIns="0" rIns="0" tIns="0" bIns="0" anchor="t">
            <a:spAutoFit/>
          </a:bodyPr>
          <a:lstStyle/>
          <a:p>
            <a:pPr algn="l">
              <a:spcBef>
                <a:spcPts val="0"/>
              </a:spcBef>
              <a:spcAft>
                <a:spcPts val="0"/>
              </a:spcAft>
            </a:pPr>
            <a:r>
              <a:rPr sz="1000" b="0">
                <a:solidFill>
                  <a:srgbClr val="6E6E88"/>
                </a:solidFill>
                <a:latin typeface="Segoe UI"/>
              </a:rPr>
              <a:t>Light Code</a:t>
            </a:r>
          </a:p>
        </p:txBody>
      </p:sp>
      <p:sp>
        <p:nvSpPr>
          <p:cNvPr id="20" name="TextBox 19"/>
          <p:cNvSpPr txBox="1"/>
          <p:nvPr/>
        </p:nvSpPr>
        <p:spPr>
          <a:xfrm>
            <a:off x="10500055" y="6455664"/>
            <a:ext cx="914400" cy="274320"/>
          </a:xfrm>
          <a:prstGeom prst="rect">
            <a:avLst/>
          </a:prstGeom>
          <a:noFill/>
        </p:spPr>
        <p:txBody>
          <a:bodyPr wrap="square" lIns="0" rIns="0" tIns="0" bIns="0" anchor="t">
            <a:spAutoFit/>
          </a:bodyPr>
          <a:lstStyle/>
          <a:p>
            <a:pPr algn="r">
              <a:spcBef>
                <a:spcPts val="0"/>
              </a:spcBef>
              <a:spcAft>
                <a:spcPts val="0"/>
              </a:spcAft>
            </a:pPr>
            <a:r>
              <a:rPr sz="1000" b="0">
                <a:solidFill>
                  <a:srgbClr val="6E6E88"/>
                </a:solidFill>
                <a:latin typeface="Segoe U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77240" y="566928"/>
            <a:ext cx="566928" cy="6858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86384"/>
            <a:ext cx="10637215" cy="365760"/>
          </a:xfrm>
          <a:prstGeom prst="rect">
            <a:avLst/>
          </a:prstGeom>
          <a:noFill/>
        </p:spPr>
        <p:txBody>
          <a:bodyPr wrap="square" lIns="0" rIns="0" tIns="0" bIns="0" anchor="t">
            <a:spAutoFit/>
          </a:bodyPr>
          <a:lstStyle/>
          <a:p>
            <a:pPr algn="l">
              <a:spcBef>
                <a:spcPts val="0"/>
              </a:spcBef>
              <a:spcAft>
                <a:spcPts val="0"/>
              </a:spcAft>
            </a:pPr>
            <a:r>
              <a:rPr sz="1250" b="1">
                <a:solidFill>
                  <a:srgbClr val="A855F7"/>
                </a:solidFill>
                <a:latin typeface="Segoe UI"/>
              </a:rPr>
              <a:t>THE REST OF THE SURFACE</a:t>
            </a:r>
          </a:p>
        </p:txBody>
      </p:sp>
      <p:sp>
        <p:nvSpPr>
          <p:cNvPr id="4" name="TextBox 3"/>
          <p:cNvSpPr txBox="1"/>
          <p:nvPr/>
        </p:nvSpPr>
        <p:spPr>
          <a:xfrm>
            <a:off x="777240" y="1188720"/>
            <a:ext cx="10637215" cy="1143000"/>
          </a:xfrm>
          <a:prstGeom prst="rect">
            <a:avLst/>
          </a:prstGeom>
          <a:noFill/>
        </p:spPr>
        <p:txBody>
          <a:bodyPr wrap="square" lIns="0" rIns="0" tIns="0" bIns="0" anchor="t">
            <a:spAutoFit/>
          </a:bodyPr>
          <a:lstStyle/>
          <a:p>
            <a:pPr algn="l">
              <a:lnSpc>
                <a:spcPct val="106000"/>
              </a:lnSpc>
              <a:spcBef>
                <a:spcPts val="0"/>
              </a:spcBef>
              <a:spcAft>
                <a:spcPts val="0"/>
              </a:spcAft>
            </a:pPr>
            <a:r>
              <a:rPr sz="3300" b="1">
                <a:solidFill>
                  <a:srgbClr val="141424"/>
                </a:solidFill>
                <a:latin typeface="Segoe UI"/>
              </a:rPr>
              <a:t>Plug in anything, and let it work while you do not</a:t>
            </a:r>
          </a:p>
        </p:txBody>
      </p:sp>
      <p:sp>
        <p:nvSpPr>
          <p:cNvPr id="5" name="Rounded Rectangle 4"/>
          <p:cNvSpPr/>
          <p:nvPr/>
        </p:nvSpPr>
        <p:spPr>
          <a:xfrm>
            <a:off x="777240" y="2487168"/>
            <a:ext cx="3246120" cy="2651760"/>
          </a:xfrm>
          <a:prstGeom prst="roundRect">
            <a:avLst/>
          </a:prstGeom>
          <a:solidFill>
            <a:srgbClr val="F5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2761488"/>
            <a:ext cx="365760" cy="5029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962656"/>
            <a:ext cx="2606039" cy="685800"/>
          </a:xfrm>
          <a:prstGeom prst="rect">
            <a:avLst/>
          </a:prstGeom>
          <a:noFill/>
        </p:spPr>
        <p:txBody>
          <a:bodyPr wrap="square" lIns="0" rIns="0" tIns="0" bIns="0" anchor="t">
            <a:spAutoFit/>
          </a:bodyPr>
          <a:lstStyle/>
          <a:p>
            <a:pPr algn="l">
              <a:lnSpc>
                <a:spcPct val="115000"/>
              </a:lnSpc>
              <a:spcBef>
                <a:spcPts val="0"/>
              </a:spcBef>
              <a:spcAft>
                <a:spcPts val="0"/>
              </a:spcAft>
            </a:pPr>
            <a:r>
              <a:rPr sz="1550" b="1">
                <a:solidFill>
                  <a:srgbClr val="141424"/>
                </a:solidFill>
                <a:latin typeface="Segoe UI"/>
              </a:rPr>
              <a:t>MCP servers</a:t>
            </a:r>
          </a:p>
        </p:txBody>
      </p:sp>
      <p:sp>
        <p:nvSpPr>
          <p:cNvPr id="8" name="TextBox 7"/>
          <p:cNvSpPr txBox="1"/>
          <p:nvPr/>
        </p:nvSpPr>
        <p:spPr>
          <a:xfrm>
            <a:off x="1097280" y="3694176"/>
            <a:ext cx="2606039" cy="1280160"/>
          </a:xfrm>
          <a:prstGeom prst="rect">
            <a:avLst/>
          </a:prstGeom>
          <a:noFill/>
        </p:spPr>
        <p:txBody>
          <a:bodyPr wrap="square" lIns="0" rIns="0" tIns="0" bIns="0" anchor="t">
            <a:spAutoFit/>
          </a:bodyPr>
          <a:lstStyle/>
          <a:p>
            <a:pPr algn="l">
              <a:lnSpc>
                <a:spcPct val="132000"/>
              </a:lnSpc>
              <a:spcBef>
                <a:spcPts val="0"/>
              </a:spcBef>
              <a:spcAft>
                <a:spcPts val="0"/>
              </a:spcAft>
            </a:pPr>
            <a:r>
              <a:rPr sz="1150" b="0">
                <a:solidFill>
                  <a:srgbClr val="3C3C52"/>
                </a:solidFill>
                <a:latin typeface="Segoe UI"/>
              </a:rPr>
              <a:t>Paste a configuration from another client unchanged. Per-server and per-tool switches, health, restart, and a timeout for the one tool that always takes four minutes.</a:t>
            </a:r>
          </a:p>
        </p:txBody>
      </p:sp>
      <p:sp>
        <p:nvSpPr>
          <p:cNvPr id="9" name="Rounded Rectangle 8"/>
          <p:cNvSpPr/>
          <p:nvPr/>
        </p:nvSpPr>
        <p:spPr>
          <a:xfrm>
            <a:off x="4425696" y="2487168"/>
            <a:ext cx="3246120" cy="2651760"/>
          </a:xfrm>
          <a:prstGeom prst="roundRect">
            <a:avLst/>
          </a:prstGeom>
          <a:solidFill>
            <a:srgbClr val="F5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45736" y="2761488"/>
            <a:ext cx="365760" cy="5029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45736" y="2962656"/>
            <a:ext cx="2606039" cy="685800"/>
          </a:xfrm>
          <a:prstGeom prst="rect">
            <a:avLst/>
          </a:prstGeom>
          <a:noFill/>
        </p:spPr>
        <p:txBody>
          <a:bodyPr wrap="square" lIns="0" rIns="0" tIns="0" bIns="0" anchor="t">
            <a:spAutoFit/>
          </a:bodyPr>
          <a:lstStyle/>
          <a:p>
            <a:pPr algn="l">
              <a:lnSpc>
                <a:spcPct val="115000"/>
              </a:lnSpc>
              <a:spcBef>
                <a:spcPts val="0"/>
              </a:spcBef>
              <a:spcAft>
                <a:spcPts val="0"/>
              </a:spcAft>
            </a:pPr>
            <a:r>
              <a:rPr sz="1550" b="1">
                <a:solidFill>
                  <a:srgbClr val="141424"/>
                </a:solidFill>
                <a:latin typeface="Segoe UI"/>
              </a:rPr>
              <a:t>Scheduled prompts</a:t>
            </a:r>
          </a:p>
        </p:txBody>
      </p:sp>
      <p:sp>
        <p:nvSpPr>
          <p:cNvPr id="12" name="TextBox 11"/>
          <p:cNvSpPr txBox="1"/>
          <p:nvPr/>
        </p:nvSpPr>
        <p:spPr>
          <a:xfrm>
            <a:off x="4745736" y="3694176"/>
            <a:ext cx="2606039" cy="1280160"/>
          </a:xfrm>
          <a:prstGeom prst="rect">
            <a:avLst/>
          </a:prstGeom>
          <a:noFill/>
        </p:spPr>
        <p:txBody>
          <a:bodyPr wrap="square" lIns="0" rIns="0" tIns="0" bIns="0" anchor="t">
            <a:spAutoFit/>
          </a:bodyPr>
          <a:lstStyle/>
          <a:p>
            <a:pPr algn="l">
              <a:lnSpc>
                <a:spcPct val="132000"/>
              </a:lnSpc>
              <a:spcBef>
                <a:spcPts val="0"/>
              </a:spcBef>
              <a:spcAft>
                <a:spcPts val="0"/>
              </a:spcAft>
            </a:pPr>
            <a:r>
              <a:rPr sz="1150" b="0">
                <a:solidFill>
                  <a:srgbClr val="3C3C52"/>
                </a:solidFill>
                <a:latin typeface="Segoe UI"/>
              </a:rPr>
              <a:t>Run a prompt on a schedule and read the report in the morning. Read-only by default: an unattended run is granted tools one at a time, and the default is none.</a:t>
            </a:r>
          </a:p>
        </p:txBody>
      </p:sp>
      <p:sp>
        <p:nvSpPr>
          <p:cNvPr id="13" name="Rounded Rectangle 12"/>
          <p:cNvSpPr/>
          <p:nvPr/>
        </p:nvSpPr>
        <p:spPr>
          <a:xfrm>
            <a:off x="8074152" y="2487168"/>
            <a:ext cx="3246120" cy="2651760"/>
          </a:xfrm>
          <a:prstGeom prst="roundRect">
            <a:avLst/>
          </a:prstGeom>
          <a:solidFill>
            <a:srgbClr val="F5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4192" y="2761488"/>
            <a:ext cx="365760" cy="5029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94192" y="2962656"/>
            <a:ext cx="2606039" cy="685800"/>
          </a:xfrm>
          <a:prstGeom prst="rect">
            <a:avLst/>
          </a:prstGeom>
          <a:noFill/>
        </p:spPr>
        <p:txBody>
          <a:bodyPr wrap="square" lIns="0" rIns="0" tIns="0" bIns="0" anchor="t">
            <a:spAutoFit/>
          </a:bodyPr>
          <a:lstStyle/>
          <a:p>
            <a:pPr algn="l">
              <a:lnSpc>
                <a:spcPct val="115000"/>
              </a:lnSpc>
              <a:spcBef>
                <a:spcPts val="0"/>
              </a:spcBef>
              <a:spcAft>
                <a:spcPts val="0"/>
              </a:spcAft>
            </a:pPr>
            <a:r>
              <a:rPr sz="1550" b="1">
                <a:solidFill>
                  <a:srgbClr val="141424"/>
                </a:solidFill>
                <a:latin typeface="Segoe UI"/>
              </a:rPr>
              <a:t>Semantic codebase search</a:t>
            </a:r>
          </a:p>
        </p:txBody>
      </p:sp>
      <p:sp>
        <p:nvSpPr>
          <p:cNvPr id="16" name="TextBox 15"/>
          <p:cNvSpPr txBox="1"/>
          <p:nvPr/>
        </p:nvSpPr>
        <p:spPr>
          <a:xfrm>
            <a:off x="8394192" y="3694176"/>
            <a:ext cx="2606039" cy="1280160"/>
          </a:xfrm>
          <a:prstGeom prst="rect">
            <a:avLst/>
          </a:prstGeom>
          <a:noFill/>
        </p:spPr>
        <p:txBody>
          <a:bodyPr wrap="square" lIns="0" rIns="0" tIns="0" bIns="0" anchor="t">
            <a:spAutoFit/>
          </a:bodyPr>
          <a:lstStyle/>
          <a:p>
            <a:pPr algn="l">
              <a:lnSpc>
                <a:spcPct val="132000"/>
              </a:lnSpc>
              <a:spcBef>
                <a:spcPts val="0"/>
              </a:spcBef>
              <a:spcAft>
                <a:spcPts val="0"/>
              </a:spcAft>
            </a:pPr>
            <a:r>
              <a:rPr sz="1150" b="0">
                <a:solidFill>
                  <a:srgbClr val="3C3C52"/>
                </a:solidFill>
                <a:latin typeface="Segoe UI"/>
              </a:rPr>
              <a:t>Ask in your own words rather than grepping for a name. Runs against a vector store you host — OpenSearch, Qdrant or Chroma. Ships disabled, being the largest egress in the product.</a:t>
            </a:r>
          </a:p>
        </p:txBody>
      </p:sp>
      <p:sp>
        <p:nvSpPr>
          <p:cNvPr id="17" name="TextBox 16"/>
          <p:cNvSpPr txBox="1"/>
          <p:nvPr/>
        </p:nvSpPr>
        <p:spPr>
          <a:xfrm>
            <a:off x="777240" y="6455664"/>
            <a:ext cx="3657600" cy="274320"/>
          </a:xfrm>
          <a:prstGeom prst="rect">
            <a:avLst/>
          </a:prstGeom>
          <a:noFill/>
        </p:spPr>
        <p:txBody>
          <a:bodyPr wrap="square" lIns="0" rIns="0" tIns="0" bIns="0" anchor="t">
            <a:spAutoFit/>
          </a:bodyPr>
          <a:lstStyle/>
          <a:p>
            <a:pPr algn="l">
              <a:spcBef>
                <a:spcPts val="0"/>
              </a:spcBef>
              <a:spcAft>
                <a:spcPts val="0"/>
              </a:spcAft>
            </a:pPr>
            <a:r>
              <a:rPr sz="1000" b="0">
                <a:solidFill>
                  <a:srgbClr val="6E6E88"/>
                </a:solidFill>
                <a:latin typeface="Segoe UI"/>
              </a:rPr>
              <a:t>Light Code</a:t>
            </a:r>
          </a:p>
        </p:txBody>
      </p:sp>
      <p:sp>
        <p:nvSpPr>
          <p:cNvPr id="18" name="TextBox 17"/>
          <p:cNvSpPr txBox="1"/>
          <p:nvPr/>
        </p:nvSpPr>
        <p:spPr>
          <a:xfrm>
            <a:off x="10500055" y="6455664"/>
            <a:ext cx="914400" cy="274320"/>
          </a:xfrm>
          <a:prstGeom prst="rect">
            <a:avLst/>
          </a:prstGeom>
          <a:noFill/>
        </p:spPr>
        <p:txBody>
          <a:bodyPr wrap="square" lIns="0" rIns="0" tIns="0" bIns="0" anchor="t">
            <a:spAutoFit/>
          </a:bodyPr>
          <a:lstStyle/>
          <a:p>
            <a:pPr algn="r">
              <a:spcBef>
                <a:spcPts val="0"/>
              </a:spcBef>
              <a:spcAft>
                <a:spcPts val="0"/>
              </a:spcAft>
            </a:pPr>
            <a:r>
              <a:rPr sz="1000" b="0">
                <a:solidFill>
                  <a:srgbClr val="6E6E88"/>
                </a:solidFill>
                <a:latin typeface="Segoe U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77240" y="566928"/>
            <a:ext cx="566928" cy="6858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86384"/>
            <a:ext cx="10637215" cy="365760"/>
          </a:xfrm>
          <a:prstGeom prst="rect">
            <a:avLst/>
          </a:prstGeom>
          <a:noFill/>
        </p:spPr>
        <p:txBody>
          <a:bodyPr wrap="square" lIns="0" rIns="0" tIns="0" bIns="0" anchor="t">
            <a:spAutoFit/>
          </a:bodyPr>
          <a:lstStyle/>
          <a:p>
            <a:pPr algn="l">
              <a:spcBef>
                <a:spcPts val="0"/>
              </a:spcBef>
              <a:spcAft>
                <a:spcPts val="0"/>
              </a:spcAft>
            </a:pPr>
            <a:r>
              <a:rPr sz="1250" b="1">
                <a:solidFill>
                  <a:srgbClr val="A855F7"/>
                </a:solidFill>
                <a:latin typeface="Segoe UI"/>
              </a:rPr>
              <a:t>SPENDING LESS</a:t>
            </a:r>
          </a:p>
        </p:txBody>
      </p:sp>
      <p:sp>
        <p:nvSpPr>
          <p:cNvPr id="4" name="TextBox 3"/>
          <p:cNvSpPr txBox="1"/>
          <p:nvPr/>
        </p:nvSpPr>
        <p:spPr>
          <a:xfrm>
            <a:off x="777240" y="1188720"/>
            <a:ext cx="10637215" cy="1143000"/>
          </a:xfrm>
          <a:prstGeom prst="rect">
            <a:avLst/>
          </a:prstGeom>
          <a:noFill/>
        </p:spPr>
        <p:txBody>
          <a:bodyPr wrap="square" lIns="0" rIns="0" tIns="0" bIns="0" anchor="t">
            <a:spAutoFit/>
          </a:bodyPr>
          <a:lstStyle/>
          <a:p>
            <a:pPr algn="l">
              <a:lnSpc>
                <a:spcPct val="106000"/>
              </a:lnSpc>
              <a:spcBef>
                <a:spcPts val="0"/>
              </a:spcBef>
              <a:spcAft>
                <a:spcPts val="0"/>
              </a:spcAft>
            </a:pPr>
            <a:r>
              <a:rPr sz="3300" b="1">
                <a:solidFill>
                  <a:srgbClr val="141424"/>
                </a:solidFill>
                <a:latin typeface="Segoe UI"/>
              </a:rPr>
              <a:t>A cheap model does the work; a strong one plans it</a:t>
            </a:r>
          </a:p>
        </p:txBody>
      </p:sp>
      <p:sp>
        <p:nvSpPr>
          <p:cNvPr id="5" name="Rectangle 4"/>
          <p:cNvSpPr/>
          <p:nvPr/>
        </p:nvSpPr>
        <p:spPr>
          <a:xfrm>
            <a:off x="777240" y="2615184"/>
            <a:ext cx="50292" cy="91440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578608"/>
            <a:ext cx="3977639" cy="640080"/>
          </a:xfrm>
          <a:prstGeom prst="rect">
            <a:avLst/>
          </a:prstGeom>
          <a:noFill/>
        </p:spPr>
        <p:txBody>
          <a:bodyPr wrap="square" lIns="0" rIns="0" tIns="0" bIns="0" anchor="t">
            <a:spAutoFit/>
          </a:bodyPr>
          <a:lstStyle/>
          <a:p>
            <a:pPr algn="l">
              <a:lnSpc>
                <a:spcPct val="115000"/>
              </a:lnSpc>
              <a:spcBef>
                <a:spcPts val="0"/>
              </a:spcBef>
              <a:spcAft>
                <a:spcPts val="0"/>
              </a:spcAft>
            </a:pPr>
            <a:r>
              <a:rPr sz="1500" b="1">
                <a:solidFill>
                  <a:srgbClr val="141424"/>
                </a:solidFill>
                <a:latin typeface="Segoe UI"/>
              </a:rPr>
              <a:t>Priced on your machine, not from a rate card</a:t>
            </a:r>
          </a:p>
        </p:txBody>
      </p:sp>
      <p:sp>
        <p:nvSpPr>
          <p:cNvPr id="7" name="TextBox 6"/>
          <p:cNvSpPr txBox="1"/>
          <p:nvPr/>
        </p:nvSpPr>
        <p:spPr>
          <a:xfrm>
            <a:off x="5257799" y="2578608"/>
            <a:ext cx="6156655" cy="987552"/>
          </a:xfrm>
          <a:prstGeom prst="rect">
            <a:avLst/>
          </a:prstGeom>
          <a:noFill/>
        </p:spPr>
        <p:txBody>
          <a:bodyPr wrap="square" lIns="0" rIns="0" tIns="0" bIns="0" anchor="t">
            <a:spAutoFit/>
          </a:bodyPr>
          <a:lstStyle/>
          <a:p>
            <a:pPr algn="l">
              <a:lnSpc>
                <a:spcPct val="135000"/>
              </a:lnSpc>
              <a:spcBef>
                <a:spcPts val="0"/>
              </a:spcBef>
              <a:spcAft>
                <a:spcPts val="0"/>
              </a:spcAft>
            </a:pPr>
            <a:r>
              <a:rPr sz="1250" b="0">
                <a:solidFill>
                  <a:srgbClr val="3C3C52"/>
                </a:solidFill>
                <a:latin typeface="Segoe UI"/>
              </a:rPr>
              <a:t>A button runs two trivial consultations and records what they actually cost here, so plans are made in your own deployment's numbers rather than a published rate.</a:t>
            </a:r>
          </a:p>
        </p:txBody>
      </p:sp>
      <p:sp>
        <p:nvSpPr>
          <p:cNvPr id="8" name="Rectangle 7"/>
          <p:cNvSpPr/>
          <p:nvPr/>
        </p:nvSpPr>
        <p:spPr>
          <a:xfrm>
            <a:off x="777240" y="3785616"/>
            <a:ext cx="50292" cy="91440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749040"/>
            <a:ext cx="3977639" cy="640080"/>
          </a:xfrm>
          <a:prstGeom prst="rect">
            <a:avLst/>
          </a:prstGeom>
          <a:noFill/>
        </p:spPr>
        <p:txBody>
          <a:bodyPr wrap="square" lIns="0" rIns="0" tIns="0" bIns="0" anchor="t">
            <a:spAutoFit/>
          </a:bodyPr>
          <a:lstStyle/>
          <a:p>
            <a:pPr algn="l">
              <a:lnSpc>
                <a:spcPct val="115000"/>
              </a:lnSpc>
              <a:spcBef>
                <a:spcPts val="0"/>
              </a:spcBef>
              <a:spcAft>
                <a:spcPts val="0"/>
              </a:spcAft>
            </a:pPr>
            <a:r>
              <a:rPr sz="1500" b="1">
                <a:solidFill>
                  <a:srgbClr val="141424"/>
                </a:solidFill>
                <a:latin typeface="Segoe UI"/>
              </a:rPr>
              <a:t>A budget for every conversation</a:t>
            </a:r>
          </a:p>
        </p:txBody>
      </p:sp>
      <p:sp>
        <p:nvSpPr>
          <p:cNvPr id="10" name="TextBox 9"/>
          <p:cNvSpPr txBox="1"/>
          <p:nvPr/>
        </p:nvSpPr>
        <p:spPr>
          <a:xfrm>
            <a:off x="5257799" y="3749040"/>
            <a:ext cx="6156655" cy="987552"/>
          </a:xfrm>
          <a:prstGeom prst="rect">
            <a:avLst/>
          </a:prstGeom>
          <a:noFill/>
        </p:spPr>
        <p:txBody>
          <a:bodyPr wrap="square" lIns="0" rIns="0" tIns="0" bIns="0" anchor="t">
            <a:spAutoFit/>
          </a:bodyPr>
          <a:lstStyle/>
          <a:p>
            <a:pPr algn="l">
              <a:lnSpc>
                <a:spcPct val="135000"/>
              </a:lnSpc>
              <a:spcBef>
                <a:spcPts val="0"/>
              </a:spcBef>
              <a:spcAft>
                <a:spcPts val="0"/>
              </a:spcAft>
            </a:pPr>
            <a:r>
              <a:rPr sz="1250" b="0">
                <a:solidFill>
                  <a:srgbClr val="3C3C52"/>
                </a:solidFill>
                <a:latin typeface="Segoe UI"/>
              </a:rPr>
              <a:t>Stop after so many consultations or so much spend. Set it in the chat header, change it mid-task, and the expert is told what remains so it plans to fit.</a:t>
            </a:r>
          </a:p>
        </p:txBody>
      </p:sp>
      <p:sp>
        <p:nvSpPr>
          <p:cNvPr id="11" name="Rectangle 10"/>
          <p:cNvSpPr/>
          <p:nvPr/>
        </p:nvSpPr>
        <p:spPr>
          <a:xfrm>
            <a:off x="777240" y="4956048"/>
            <a:ext cx="50292" cy="91440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919472"/>
            <a:ext cx="3977639" cy="640080"/>
          </a:xfrm>
          <a:prstGeom prst="rect">
            <a:avLst/>
          </a:prstGeom>
          <a:noFill/>
        </p:spPr>
        <p:txBody>
          <a:bodyPr wrap="square" lIns="0" rIns="0" tIns="0" bIns="0" anchor="t">
            <a:spAutoFit/>
          </a:bodyPr>
          <a:lstStyle/>
          <a:p>
            <a:pPr algn="l">
              <a:lnSpc>
                <a:spcPct val="115000"/>
              </a:lnSpc>
              <a:spcBef>
                <a:spcPts val="0"/>
              </a:spcBef>
              <a:spcAft>
                <a:spcPts val="0"/>
              </a:spcAft>
            </a:pPr>
            <a:r>
              <a:rPr sz="1500" b="1">
                <a:solidFill>
                  <a:srgbClr val="141424"/>
                </a:solidFill>
                <a:latin typeface="Segoe UI"/>
              </a:rPr>
              <a:t>Savings reported as a floor, never a guess</a:t>
            </a:r>
          </a:p>
        </p:txBody>
      </p:sp>
      <p:sp>
        <p:nvSpPr>
          <p:cNvPr id="13" name="TextBox 12"/>
          <p:cNvSpPr txBox="1"/>
          <p:nvPr/>
        </p:nvSpPr>
        <p:spPr>
          <a:xfrm>
            <a:off x="5257799" y="4919472"/>
            <a:ext cx="6156655" cy="987552"/>
          </a:xfrm>
          <a:prstGeom prst="rect">
            <a:avLst/>
          </a:prstGeom>
          <a:noFill/>
        </p:spPr>
        <p:txBody>
          <a:bodyPr wrap="square" lIns="0" rIns="0" tIns="0" bIns="0" anchor="t">
            <a:spAutoFit/>
          </a:bodyPr>
          <a:lstStyle/>
          <a:p>
            <a:pPr algn="l">
              <a:lnSpc>
                <a:spcPct val="135000"/>
              </a:lnSpc>
              <a:spcBef>
                <a:spcPts val="0"/>
              </a:spcBef>
              <a:spcAft>
                <a:spcPts val="0"/>
              </a:spcAft>
            </a:pPr>
            <a:r>
              <a:rPr sz="1250" b="0">
                <a:solidFill>
                  <a:srgbClr val="3C3C52"/>
                </a:solidFill>
                <a:latin typeface="Segoe UI"/>
              </a:rPr>
              <a:t>The panel shows what has demonstrably been avoided, with the arithmetic on the page. What a strong model would have charged to do the work itself is not counted, because nothing can know it.</a:t>
            </a:r>
          </a:p>
        </p:txBody>
      </p:sp>
      <p:sp>
        <p:nvSpPr>
          <p:cNvPr id="14" name="TextBox 13"/>
          <p:cNvSpPr txBox="1"/>
          <p:nvPr/>
        </p:nvSpPr>
        <p:spPr>
          <a:xfrm>
            <a:off x="777240" y="6455664"/>
            <a:ext cx="3657600" cy="274320"/>
          </a:xfrm>
          <a:prstGeom prst="rect">
            <a:avLst/>
          </a:prstGeom>
          <a:noFill/>
        </p:spPr>
        <p:txBody>
          <a:bodyPr wrap="square" lIns="0" rIns="0" tIns="0" bIns="0" anchor="t">
            <a:spAutoFit/>
          </a:bodyPr>
          <a:lstStyle/>
          <a:p>
            <a:pPr algn="l">
              <a:spcBef>
                <a:spcPts val="0"/>
              </a:spcBef>
              <a:spcAft>
                <a:spcPts val="0"/>
              </a:spcAft>
            </a:pPr>
            <a:r>
              <a:rPr sz="1000" b="0">
                <a:solidFill>
                  <a:srgbClr val="6E6E88"/>
                </a:solidFill>
                <a:latin typeface="Segoe UI"/>
              </a:rPr>
              <a:t>Light Code</a:t>
            </a:r>
          </a:p>
        </p:txBody>
      </p:sp>
      <p:sp>
        <p:nvSpPr>
          <p:cNvPr id="15" name="TextBox 14"/>
          <p:cNvSpPr txBox="1"/>
          <p:nvPr/>
        </p:nvSpPr>
        <p:spPr>
          <a:xfrm>
            <a:off x="10500055" y="6455664"/>
            <a:ext cx="914400" cy="274320"/>
          </a:xfrm>
          <a:prstGeom prst="rect">
            <a:avLst/>
          </a:prstGeom>
          <a:noFill/>
        </p:spPr>
        <p:txBody>
          <a:bodyPr wrap="square" lIns="0" rIns="0" tIns="0" bIns="0" anchor="t">
            <a:spAutoFit/>
          </a:bodyPr>
          <a:lstStyle/>
          <a:p>
            <a:pPr algn="r">
              <a:spcBef>
                <a:spcPts val="0"/>
              </a:spcBef>
              <a:spcAft>
                <a:spcPts val="0"/>
              </a:spcAft>
            </a:pPr>
            <a:r>
              <a:rPr sz="1000" b="0">
                <a:solidFill>
                  <a:srgbClr val="6E6E88"/>
                </a:solidFill>
                <a:latin typeface="Segoe U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77240" y="566928"/>
            <a:ext cx="566928" cy="6858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86384"/>
            <a:ext cx="10637215" cy="365760"/>
          </a:xfrm>
          <a:prstGeom prst="rect">
            <a:avLst/>
          </a:prstGeom>
          <a:noFill/>
        </p:spPr>
        <p:txBody>
          <a:bodyPr wrap="square" lIns="0" rIns="0" tIns="0" bIns="0" anchor="t">
            <a:spAutoFit/>
          </a:bodyPr>
          <a:lstStyle/>
          <a:p>
            <a:pPr algn="l">
              <a:spcBef>
                <a:spcPts val="0"/>
              </a:spcBef>
              <a:spcAft>
                <a:spcPts val="0"/>
              </a:spcAft>
            </a:pPr>
            <a:r>
              <a:rPr sz="1250" b="1">
                <a:solidFill>
                  <a:srgbClr val="A855F7"/>
                </a:solidFill>
                <a:latin typeface="Segoe UI"/>
              </a:rPr>
              <a:t>BEING STRAIGHT WITH YOU</a:t>
            </a:r>
          </a:p>
        </p:txBody>
      </p:sp>
      <p:sp>
        <p:nvSpPr>
          <p:cNvPr id="4" name="TextBox 3"/>
          <p:cNvSpPr txBox="1"/>
          <p:nvPr/>
        </p:nvSpPr>
        <p:spPr>
          <a:xfrm>
            <a:off x="777240" y="1188720"/>
            <a:ext cx="10637215" cy="1143000"/>
          </a:xfrm>
          <a:prstGeom prst="rect">
            <a:avLst/>
          </a:prstGeom>
          <a:noFill/>
        </p:spPr>
        <p:txBody>
          <a:bodyPr wrap="square" lIns="0" rIns="0" tIns="0" bIns="0" anchor="t">
            <a:spAutoFit/>
          </a:bodyPr>
          <a:lstStyle/>
          <a:p>
            <a:pPr algn="l">
              <a:lnSpc>
                <a:spcPct val="106000"/>
              </a:lnSpc>
              <a:spcBef>
                <a:spcPts val="0"/>
              </a:spcBef>
              <a:spcAft>
                <a:spcPts val="0"/>
              </a:spcAft>
            </a:pPr>
            <a:r>
              <a:rPr sz="3300" b="1">
                <a:solidFill>
                  <a:srgbClr val="141424"/>
                </a:solidFill>
                <a:latin typeface="Segoe UI"/>
              </a:rPr>
              <a:t>What it deliberately does not do</a:t>
            </a:r>
          </a:p>
        </p:txBody>
      </p:sp>
      <p:sp>
        <p:nvSpPr>
          <p:cNvPr id="5" name="TextBox 4"/>
          <p:cNvSpPr txBox="1"/>
          <p:nvPr/>
        </p:nvSpPr>
        <p:spPr>
          <a:xfrm>
            <a:off x="777240" y="2011680"/>
            <a:ext cx="10637215" cy="457200"/>
          </a:xfrm>
          <a:prstGeom prst="rect">
            <a:avLst/>
          </a:prstGeom>
          <a:noFill/>
        </p:spPr>
        <p:txBody>
          <a:bodyPr wrap="square" lIns="0" rIns="0" tIns="0" bIns="0" anchor="t">
            <a:spAutoFit/>
          </a:bodyPr>
          <a:lstStyle/>
          <a:p>
            <a:pPr algn="l">
              <a:lnSpc>
                <a:spcPct val="130000"/>
              </a:lnSpc>
              <a:spcBef>
                <a:spcPts val="0"/>
              </a:spcBef>
              <a:spcAft>
                <a:spcPts val="0"/>
              </a:spcAft>
            </a:pPr>
            <a:r>
              <a:rPr sz="1550" b="0">
                <a:solidFill>
                  <a:srgbClr val="6E6E88"/>
                </a:solidFill>
                <a:latin typeface="Segoe UI"/>
              </a:rPr>
              <a:t>Minimalism is the point, not a stage it will grow out of.</a:t>
            </a:r>
          </a:p>
        </p:txBody>
      </p:sp>
      <p:sp>
        <p:nvSpPr>
          <p:cNvPr id="6" name="Rectangle 5"/>
          <p:cNvSpPr/>
          <p:nvPr/>
        </p:nvSpPr>
        <p:spPr>
          <a:xfrm>
            <a:off x="777240" y="2624328"/>
            <a:ext cx="50292" cy="132588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624328"/>
            <a:ext cx="4754879" cy="411480"/>
          </a:xfrm>
          <a:prstGeom prst="rect">
            <a:avLst/>
          </a:prstGeom>
          <a:noFill/>
        </p:spPr>
        <p:txBody>
          <a:bodyPr wrap="square" lIns="0" rIns="0" tIns="0" bIns="0" anchor="t">
            <a:spAutoFit/>
          </a:bodyPr>
          <a:lstStyle/>
          <a:p>
            <a:pPr algn="l">
              <a:spcBef>
                <a:spcPts val="0"/>
              </a:spcBef>
              <a:spcAft>
                <a:spcPts val="0"/>
              </a:spcAft>
            </a:pPr>
            <a:r>
              <a:rPr sz="1600" b="1">
                <a:solidFill>
                  <a:srgbClr val="141424"/>
                </a:solidFill>
                <a:latin typeface="Segoe UI"/>
              </a:rPr>
              <a:t>It does not sandbox what it runs</a:t>
            </a:r>
          </a:p>
        </p:txBody>
      </p:sp>
      <p:sp>
        <p:nvSpPr>
          <p:cNvPr id="8" name="TextBox 7"/>
          <p:cNvSpPr txBox="1"/>
          <p:nvPr/>
        </p:nvSpPr>
        <p:spPr>
          <a:xfrm>
            <a:off x="1051560" y="3035808"/>
            <a:ext cx="4800600" cy="960120"/>
          </a:xfrm>
          <a:prstGeom prst="rect">
            <a:avLst/>
          </a:prstGeom>
          <a:noFill/>
        </p:spPr>
        <p:txBody>
          <a:bodyPr wrap="square" lIns="0" rIns="0" tIns="0" bIns="0" anchor="t">
            <a:spAutoFit/>
          </a:bodyPr>
          <a:lstStyle/>
          <a:p>
            <a:pPr algn="l">
              <a:lnSpc>
                <a:spcPct val="135000"/>
              </a:lnSpc>
              <a:spcBef>
                <a:spcPts val="0"/>
              </a:spcBef>
              <a:spcAft>
                <a:spcPts val="0"/>
              </a:spcAft>
            </a:pPr>
            <a:r>
              <a:rPr sz="1250" b="0">
                <a:solidFill>
                  <a:srgbClr val="3C3C52"/>
                </a:solidFill>
                <a:latin typeface="Segoe UI"/>
              </a:rPr>
              <a:t>Commands, Python tools and MCP servers execute as you, with your permissions. The approval gate is the control; the operating system is the boundary.</a:t>
            </a:r>
          </a:p>
        </p:txBody>
      </p:sp>
      <p:sp>
        <p:nvSpPr>
          <p:cNvPr id="9" name="Rectangle 8"/>
          <p:cNvSpPr/>
          <p:nvPr/>
        </p:nvSpPr>
        <p:spPr>
          <a:xfrm>
            <a:off x="6199631" y="2624328"/>
            <a:ext cx="50292" cy="132588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73951" y="2624328"/>
            <a:ext cx="4754879" cy="411480"/>
          </a:xfrm>
          <a:prstGeom prst="rect">
            <a:avLst/>
          </a:prstGeom>
          <a:noFill/>
        </p:spPr>
        <p:txBody>
          <a:bodyPr wrap="square" lIns="0" rIns="0" tIns="0" bIns="0" anchor="t">
            <a:spAutoFit/>
          </a:bodyPr>
          <a:lstStyle/>
          <a:p>
            <a:pPr algn="l">
              <a:spcBef>
                <a:spcPts val="0"/>
              </a:spcBef>
              <a:spcAft>
                <a:spcPts val="0"/>
              </a:spcAft>
            </a:pPr>
            <a:r>
              <a:rPr sz="1600" b="1">
                <a:solidFill>
                  <a:srgbClr val="141424"/>
                </a:solidFill>
                <a:latin typeface="Segoe UI"/>
              </a:rPr>
              <a:t>No browser automation, no OCR</a:t>
            </a:r>
          </a:p>
        </p:txBody>
      </p:sp>
      <p:sp>
        <p:nvSpPr>
          <p:cNvPr id="11" name="TextBox 10"/>
          <p:cNvSpPr txBox="1"/>
          <p:nvPr/>
        </p:nvSpPr>
        <p:spPr>
          <a:xfrm>
            <a:off x="6473951" y="3035808"/>
            <a:ext cx="4800600" cy="960120"/>
          </a:xfrm>
          <a:prstGeom prst="rect">
            <a:avLst/>
          </a:prstGeom>
          <a:noFill/>
        </p:spPr>
        <p:txBody>
          <a:bodyPr wrap="square" lIns="0" rIns="0" tIns="0" bIns="0" anchor="t">
            <a:spAutoFit/>
          </a:bodyPr>
          <a:lstStyle/>
          <a:p>
            <a:pPr algn="l">
              <a:lnSpc>
                <a:spcPct val="135000"/>
              </a:lnSpc>
              <a:spcBef>
                <a:spcPts val="0"/>
              </a:spcBef>
              <a:spcAft>
                <a:spcPts val="0"/>
              </a:spcAft>
            </a:pPr>
            <a:r>
              <a:rPr sz="1250" b="0">
                <a:solidFill>
                  <a:srgbClr val="3C3C52"/>
                </a:solidFill>
                <a:latin typeface="Segoe UI"/>
              </a:rPr>
              <a:t>If you want browser control, point it at an MCP server that does it. A PDF it cannot decode is reported as such rather than guessed at.</a:t>
            </a:r>
          </a:p>
        </p:txBody>
      </p:sp>
      <p:sp>
        <p:nvSpPr>
          <p:cNvPr id="12" name="Rectangle 11"/>
          <p:cNvSpPr/>
          <p:nvPr/>
        </p:nvSpPr>
        <p:spPr>
          <a:xfrm>
            <a:off x="777240" y="4288536"/>
            <a:ext cx="50292" cy="132588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288536"/>
            <a:ext cx="4754879" cy="411480"/>
          </a:xfrm>
          <a:prstGeom prst="rect">
            <a:avLst/>
          </a:prstGeom>
          <a:noFill/>
        </p:spPr>
        <p:txBody>
          <a:bodyPr wrap="square" lIns="0" rIns="0" tIns="0" bIns="0" anchor="t">
            <a:spAutoFit/>
          </a:bodyPr>
          <a:lstStyle/>
          <a:p>
            <a:pPr algn="l">
              <a:spcBef>
                <a:spcPts val="0"/>
              </a:spcBef>
              <a:spcAft>
                <a:spcPts val="0"/>
              </a:spcAft>
            </a:pPr>
            <a:r>
              <a:rPr sz="1600" b="1">
                <a:solidFill>
                  <a:srgbClr val="141424"/>
                </a:solidFill>
                <a:latin typeface="Segoe UI"/>
              </a:rPr>
              <a:t>Shared hosting is not yet isolated</a:t>
            </a:r>
          </a:p>
        </p:txBody>
      </p:sp>
      <p:sp>
        <p:nvSpPr>
          <p:cNvPr id="14" name="TextBox 13"/>
          <p:cNvSpPr txBox="1"/>
          <p:nvPr/>
        </p:nvSpPr>
        <p:spPr>
          <a:xfrm>
            <a:off x="1051560" y="4700016"/>
            <a:ext cx="4800600" cy="960120"/>
          </a:xfrm>
          <a:prstGeom prst="rect">
            <a:avLst/>
          </a:prstGeom>
          <a:noFill/>
        </p:spPr>
        <p:txBody>
          <a:bodyPr wrap="square" lIns="0" rIns="0" tIns="0" bIns="0" anchor="t">
            <a:spAutoFit/>
          </a:bodyPr>
          <a:lstStyle/>
          <a:p>
            <a:pPr algn="l">
              <a:lnSpc>
                <a:spcPct val="135000"/>
              </a:lnSpc>
              <a:spcBef>
                <a:spcPts val="0"/>
              </a:spcBef>
              <a:spcAft>
                <a:spcPts val="0"/>
              </a:spcAft>
            </a:pPr>
            <a:r>
              <a:rPr sz="1250" b="0">
                <a:solidFill>
                  <a:srgbClr val="3C3C52"/>
                </a:solidFill>
                <a:latin typeface="Segoe UI"/>
              </a:rPr>
              <a:t>The browser version runs the agent as one service account, so it suits a team that already trusts each other with the same access — and the documentation says so.</a:t>
            </a:r>
          </a:p>
        </p:txBody>
      </p:sp>
      <p:sp>
        <p:nvSpPr>
          <p:cNvPr id="15" name="Rectangle 14"/>
          <p:cNvSpPr/>
          <p:nvPr/>
        </p:nvSpPr>
        <p:spPr>
          <a:xfrm>
            <a:off x="6199631" y="4288536"/>
            <a:ext cx="50292" cy="132588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73951" y="4288536"/>
            <a:ext cx="4754879" cy="411480"/>
          </a:xfrm>
          <a:prstGeom prst="rect">
            <a:avLst/>
          </a:prstGeom>
          <a:noFill/>
        </p:spPr>
        <p:txBody>
          <a:bodyPr wrap="square" lIns="0" rIns="0" tIns="0" bIns="0" anchor="t">
            <a:spAutoFit/>
          </a:bodyPr>
          <a:lstStyle/>
          <a:p>
            <a:pPr algn="l">
              <a:spcBef>
                <a:spcPts val="0"/>
              </a:spcBef>
              <a:spcAft>
                <a:spcPts val="0"/>
              </a:spcAft>
            </a:pPr>
            <a:r>
              <a:rPr sz="1600" b="1">
                <a:solidFill>
                  <a:srgbClr val="141424"/>
                </a:solidFill>
                <a:latin typeface="Segoe UI"/>
              </a:rPr>
              <a:t>It is young, and small on purpose</a:t>
            </a:r>
          </a:p>
        </p:txBody>
      </p:sp>
      <p:sp>
        <p:nvSpPr>
          <p:cNvPr id="17" name="TextBox 16"/>
          <p:cNvSpPr txBox="1"/>
          <p:nvPr/>
        </p:nvSpPr>
        <p:spPr>
          <a:xfrm>
            <a:off x="6473951" y="4700016"/>
            <a:ext cx="4800600" cy="960120"/>
          </a:xfrm>
          <a:prstGeom prst="rect">
            <a:avLst/>
          </a:prstGeom>
          <a:noFill/>
        </p:spPr>
        <p:txBody>
          <a:bodyPr wrap="square" lIns="0" rIns="0" tIns="0" bIns="0" anchor="t">
            <a:spAutoFit/>
          </a:bodyPr>
          <a:lstStyle/>
          <a:p>
            <a:pPr algn="l">
              <a:lnSpc>
                <a:spcPct val="135000"/>
              </a:lnSpc>
              <a:spcBef>
                <a:spcPts val="0"/>
              </a:spcBef>
              <a:spcAft>
                <a:spcPts val="0"/>
              </a:spcAft>
            </a:pPr>
            <a:r>
              <a:rPr sz="1250" b="0">
                <a:solidFill>
                  <a:srgbClr val="3C3C52"/>
                </a:solidFill>
                <a:latin typeface="Segoe UI"/>
              </a:rPr>
              <a:t>Fewer features than the mature alternatives, by design. If you need breadth today, that is a fair reason to wait.</a:t>
            </a:r>
          </a:p>
        </p:txBody>
      </p:sp>
      <p:sp>
        <p:nvSpPr>
          <p:cNvPr id="18" name="TextBox 17"/>
          <p:cNvSpPr txBox="1"/>
          <p:nvPr/>
        </p:nvSpPr>
        <p:spPr>
          <a:xfrm>
            <a:off x="777240" y="6455664"/>
            <a:ext cx="3657600" cy="274320"/>
          </a:xfrm>
          <a:prstGeom prst="rect">
            <a:avLst/>
          </a:prstGeom>
          <a:noFill/>
        </p:spPr>
        <p:txBody>
          <a:bodyPr wrap="square" lIns="0" rIns="0" tIns="0" bIns="0" anchor="t">
            <a:spAutoFit/>
          </a:bodyPr>
          <a:lstStyle/>
          <a:p>
            <a:pPr algn="l">
              <a:spcBef>
                <a:spcPts val="0"/>
              </a:spcBef>
              <a:spcAft>
                <a:spcPts val="0"/>
              </a:spcAft>
            </a:pPr>
            <a:r>
              <a:rPr sz="1000" b="0">
                <a:solidFill>
                  <a:srgbClr val="6E6E88"/>
                </a:solidFill>
                <a:latin typeface="Segoe UI"/>
              </a:rPr>
              <a:t>Light Code</a:t>
            </a:r>
          </a:p>
        </p:txBody>
      </p:sp>
      <p:sp>
        <p:nvSpPr>
          <p:cNvPr id="19" name="TextBox 18"/>
          <p:cNvSpPr txBox="1"/>
          <p:nvPr/>
        </p:nvSpPr>
        <p:spPr>
          <a:xfrm>
            <a:off x="10500055" y="6455664"/>
            <a:ext cx="914400" cy="274320"/>
          </a:xfrm>
          <a:prstGeom prst="rect">
            <a:avLst/>
          </a:prstGeom>
          <a:noFill/>
        </p:spPr>
        <p:txBody>
          <a:bodyPr wrap="square" lIns="0" rIns="0" tIns="0" bIns="0" anchor="t">
            <a:spAutoFit/>
          </a:bodyPr>
          <a:lstStyle/>
          <a:p>
            <a:pPr algn="r">
              <a:spcBef>
                <a:spcPts val="0"/>
              </a:spcBef>
              <a:spcAft>
                <a:spcPts val="0"/>
              </a:spcAft>
            </a:pPr>
            <a:r>
              <a:rPr sz="1000" b="0">
                <a:solidFill>
                  <a:srgbClr val="6E6E88"/>
                </a:solidFill>
                <a:latin typeface="Segoe U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77240" y="566928"/>
            <a:ext cx="566928" cy="6858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86384"/>
            <a:ext cx="10637215" cy="365760"/>
          </a:xfrm>
          <a:prstGeom prst="rect">
            <a:avLst/>
          </a:prstGeom>
          <a:noFill/>
        </p:spPr>
        <p:txBody>
          <a:bodyPr wrap="square" lIns="0" rIns="0" tIns="0" bIns="0" anchor="t">
            <a:spAutoFit/>
          </a:bodyPr>
          <a:lstStyle/>
          <a:p>
            <a:pPr algn="l">
              <a:spcBef>
                <a:spcPts val="0"/>
              </a:spcBef>
              <a:spcAft>
                <a:spcPts val="0"/>
              </a:spcAft>
            </a:pPr>
            <a:r>
              <a:rPr sz="1250" b="1">
                <a:solidFill>
                  <a:srgbClr val="A855F7"/>
                </a:solidFill>
                <a:latin typeface="Segoe UI"/>
              </a:rPr>
              <a:t>WHY IT IS WORTH OUR TIME</a:t>
            </a:r>
          </a:p>
        </p:txBody>
      </p:sp>
      <p:sp>
        <p:nvSpPr>
          <p:cNvPr id="4" name="TextBox 3"/>
          <p:cNvSpPr txBox="1"/>
          <p:nvPr/>
        </p:nvSpPr>
        <p:spPr>
          <a:xfrm>
            <a:off x="777240" y="1188720"/>
            <a:ext cx="10637215" cy="1143000"/>
          </a:xfrm>
          <a:prstGeom prst="rect">
            <a:avLst/>
          </a:prstGeom>
          <a:noFill/>
        </p:spPr>
        <p:txBody>
          <a:bodyPr wrap="square" lIns="0" rIns="0" tIns="0" bIns="0" anchor="t">
            <a:spAutoFit/>
          </a:bodyPr>
          <a:lstStyle/>
          <a:p>
            <a:pPr algn="l">
              <a:lnSpc>
                <a:spcPct val="106000"/>
              </a:lnSpc>
              <a:spcBef>
                <a:spcPts val="0"/>
              </a:spcBef>
              <a:spcAft>
                <a:spcPts val="0"/>
              </a:spcAft>
            </a:pPr>
            <a:r>
              <a:rPr sz="3300" b="1">
                <a:solidFill>
                  <a:srgbClr val="141424"/>
                </a:solidFill>
                <a:latin typeface="Segoe UI"/>
              </a:rPr>
              <a:t>What adopting this actually buys</a:t>
            </a:r>
          </a:p>
        </p:txBody>
      </p:sp>
      <p:sp>
        <p:nvSpPr>
          <p:cNvPr id="5" name="Rounded Rectangle 4"/>
          <p:cNvSpPr/>
          <p:nvPr/>
        </p:nvSpPr>
        <p:spPr>
          <a:xfrm>
            <a:off x="777240" y="2441448"/>
            <a:ext cx="3246120" cy="1645920"/>
          </a:xfrm>
          <a:prstGeom prst="roundRect">
            <a:avLst/>
          </a:prstGeom>
          <a:solidFill>
            <a:srgbClr val="F5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69848" y="2697480"/>
            <a:ext cx="320040" cy="4572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9848" y="2898648"/>
            <a:ext cx="2660903" cy="457200"/>
          </a:xfrm>
          <a:prstGeom prst="rect">
            <a:avLst/>
          </a:prstGeom>
          <a:noFill/>
        </p:spPr>
        <p:txBody>
          <a:bodyPr wrap="square" lIns="0" rIns="0" tIns="0" bIns="0" anchor="t">
            <a:spAutoFit/>
          </a:bodyPr>
          <a:lstStyle/>
          <a:p>
            <a:pPr algn="l">
              <a:lnSpc>
                <a:spcPct val="115000"/>
              </a:lnSpc>
              <a:spcBef>
                <a:spcPts val="0"/>
              </a:spcBef>
              <a:spcAft>
                <a:spcPts val="0"/>
              </a:spcAft>
            </a:pPr>
            <a:r>
              <a:rPr sz="1450" b="1">
                <a:solidFill>
                  <a:srgbClr val="141424"/>
                </a:solidFill>
                <a:latin typeface="Segoe UI"/>
              </a:rPr>
              <a:t>It can authenticate to our gateway</a:t>
            </a:r>
          </a:p>
        </p:txBody>
      </p:sp>
      <p:sp>
        <p:nvSpPr>
          <p:cNvPr id="8" name="TextBox 7"/>
          <p:cNvSpPr txBox="1"/>
          <p:nvPr/>
        </p:nvSpPr>
        <p:spPr>
          <a:xfrm>
            <a:off x="1069848" y="3401568"/>
            <a:ext cx="2697479" cy="685800"/>
          </a:xfrm>
          <a:prstGeom prst="rect">
            <a:avLst/>
          </a:prstGeom>
          <a:noFill/>
        </p:spPr>
        <p:txBody>
          <a:bodyPr wrap="square" lIns="0" rIns="0" tIns="0" bIns="0" anchor="t">
            <a:spAutoFit/>
          </a:bodyPr>
          <a:lstStyle/>
          <a:p>
            <a:pPr algn="l">
              <a:lnSpc>
                <a:spcPct val="130000"/>
              </a:lnSpc>
              <a:spcBef>
                <a:spcPts val="0"/>
              </a:spcBef>
              <a:spcAft>
                <a:spcPts val="0"/>
              </a:spcAft>
            </a:pPr>
            <a:r>
              <a:rPr sz="1100" b="0">
                <a:solidFill>
                  <a:srgbClr val="3C3C52"/>
                </a:solidFill>
                <a:latin typeface="Segoe UI"/>
              </a:rPr>
              <a:t>Mutual TLS, our certificates and our token exchange — rather than needing an exception to be usable at all.</a:t>
            </a:r>
          </a:p>
        </p:txBody>
      </p:sp>
      <p:sp>
        <p:nvSpPr>
          <p:cNvPr id="9" name="Rounded Rectangle 8"/>
          <p:cNvSpPr/>
          <p:nvPr/>
        </p:nvSpPr>
        <p:spPr>
          <a:xfrm>
            <a:off x="4425696" y="2441448"/>
            <a:ext cx="3246120" cy="1645920"/>
          </a:xfrm>
          <a:prstGeom prst="roundRect">
            <a:avLst/>
          </a:prstGeom>
          <a:solidFill>
            <a:srgbClr val="F5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18304" y="2697480"/>
            <a:ext cx="320040" cy="4572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18304" y="2898648"/>
            <a:ext cx="2660903" cy="457200"/>
          </a:xfrm>
          <a:prstGeom prst="rect">
            <a:avLst/>
          </a:prstGeom>
          <a:noFill/>
        </p:spPr>
        <p:txBody>
          <a:bodyPr wrap="square" lIns="0" rIns="0" tIns="0" bIns="0" anchor="t">
            <a:spAutoFit/>
          </a:bodyPr>
          <a:lstStyle/>
          <a:p>
            <a:pPr algn="l">
              <a:lnSpc>
                <a:spcPct val="115000"/>
              </a:lnSpc>
              <a:spcBef>
                <a:spcPts val="0"/>
              </a:spcBef>
              <a:spcAft>
                <a:spcPts val="0"/>
              </a:spcAft>
            </a:pPr>
            <a:r>
              <a:rPr sz="1450" b="1">
                <a:solidFill>
                  <a:srgbClr val="141424"/>
                </a:solidFill>
                <a:latin typeface="Segoe UI"/>
              </a:rPr>
              <a:t>Nothing is measuring us</a:t>
            </a:r>
          </a:p>
        </p:txBody>
      </p:sp>
      <p:sp>
        <p:nvSpPr>
          <p:cNvPr id="12" name="TextBox 11"/>
          <p:cNvSpPr txBox="1"/>
          <p:nvPr/>
        </p:nvSpPr>
        <p:spPr>
          <a:xfrm>
            <a:off x="4718304" y="3401568"/>
            <a:ext cx="2697479" cy="685800"/>
          </a:xfrm>
          <a:prstGeom prst="rect">
            <a:avLst/>
          </a:prstGeom>
          <a:noFill/>
        </p:spPr>
        <p:txBody>
          <a:bodyPr wrap="square" lIns="0" rIns="0" tIns="0" bIns="0" anchor="t">
            <a:spAutoFit/>
          </a:bodyPr>
          <a:lstStyle/>
          <a:p>
            <a:pPr algn="l">
              <a:lnSpc>
                <a:spcPct val="130000"/>
              </a:lnSpc>
              <a:spcBef>
                <a:spcPts val="0"/>
              </a:spcBef>
              <a:spcAft>
                <a:spcPts val="0"/>
              </a:spcAft>
            </a:pPr>
            <a:r>
              <a:rPr sz="1100" b="0">
                <a:solidFill>
                  <a:srgbClr val="3C3C52"/>
                </a:solidFill>
                <a:latin typeface="Segoe UI"/>
              </a:rPr>
              <a:t>No analytics to negotiate away, an audit log for review, and a build that proves the packaged output calls nowhere unexpected.</a:t>
            </a:r>
          </a:p>
        </p:txBody>
      </p:sp>
      <p:sp>
        <p:nvSpPr>
          <p:cNvPr id="13" name="Rounded Rectangle 12"/>
          <p:cNvSpPr/>
          <p:nvPr/>
        </p:nvSpPr>
        <p:spPr>
          <a:xfrm>
            <a:off x="8074152" y="2441448"/>
            <a:ext cx="3246120" cy="1645920"/>
          </a:xfrm>
          <a:prstGeom prst="roundRect">
            <a:avLst/>
          </a:prstGeom>
          <a:solidFill>
            <a:srgbClr val="F5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66760" y="2697480"/>
            <a:ext cx="320040" cy="4572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60" y="2898648"/>
            <a:ext cx="2660903" cy="457200"/>
          </a:xfrm>
          <a:prstGeom prst="rect">
            <a:avLst/>
          </a:prstGeom>
          <a:noFill/>
        </p:spPr>
        <p:txBody>
          <a:bodyPr wrap="square" lIns="0" rIns="0" tIns="0" bIns="0" anchor="t">
            <a:spAutoFit/>
          </a:bodyPr>
          <a:lstStyle/>
          <a:p>
            <a:pPr algn="l">
              <a:lnSpc>
                <a:spcPct val="115000"/>
              </a:lnSpc>
              <a:spcBef>
                <a:spcPts val="0"/>
              </a:spcBef>
              <a:spcAft>
                <a:spcPts val="0"/>
              </a:spcAft>
            </a:pPr>
            <a:r>
              <a:rPr sz="1450" b="1">
                <a:solidFill>
                  <a:srgbClr val="141424"/>
                </a:solidFill>
                <a:latin typeface="Segoe UI"/>
              </a:rPr>
              <a:t>Spend is visible and capped</a:t>
            </a:r>
          </a:p>
        </p:txBody>
      </p:sp>
      <p:sp>
        <p:nvSpPr>
          <p:cNvPr id="16" name="TextBox 15"/>
          <p:cNvSpPr txBox="1"/>
          <p:nvPr/>
        </p:nvSpPr>
        <p:spPr>
          <a:xfrm>
            <a:off x="8366760" y="3401568"/>
            <a:ext cx="2697479" cy="685800"/>
          </a:xfrm>
          <a:prstGeom prst="rect">
            <a:avLst/>
          </a:prstGeom>
          <a:noFill/>
        </p:spPr>
        <p:txBody>
          <a:bodyPr wrap="square" lIns="0" rIns="0" tIns="0" bIns="0" anchor="t">
            <a:spAutoFit/>
          </a:bodyPr>
          <a:lstStyle/>
          <a:p>
            <a:pPr algn="l">
              <a:lnSpc>
                <a:spcPct val="130000"/>
              </a:lnSpc>
              <a:spcBef>
                <a:spcPts val="0"/>
              </a:spcBef>
              <a:spcAft>
                <a:spcPts val="0"/>
              </a:spcAft>
            </a:pPr>
            <a:r>
              <a:rPr sz="1100" b="0">
                <a:solidFill>
                  <a:srgbClr val="3C3C52"/>
                </a:solidFill>
                <a:latin typeface="Segoe UI"/>
              </a:rPr>
              <a:t>Cost is metered per conversation, budgets are set in the interface, and the cheaper route is measured rather than assumed.</a:t>
            </a:r>
          </a:p>
        </p:txBody>
      </p:sp>
      <p:sp>
        <p:nvSpPr>
          <p:cNvPr id="17" name="Rounded Rectangle 16"/>
          <p:cNvSpPr/>
          <p:nvPr/>
        </p:nvSpPr>
        <p:spPr>
          <a:xfrm>
            <a:off x="777240" y="4270248"/>
            <a:ext cx="3246120" cy="1645920"/>
          </a:xfrm>
          <a:prstGeom prst="roundRect">
            <a:avLst/>
          </a:prstGeom>
          <a:solidFill>
            <a:srgbClr val="F5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69848" y="4526280"/>
            <a:ext cx="320040" cy="4572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9848" y="4727448"/>
            <a:ext cx="2660903" cy="457200"/>
          </a:xfrm>
          <a:prstGeom prst="rect">
            <a:avLst/>
          </a:prstGeom>
          <a:noFill/>
        </p:spPr>
        <p:txBody>
          <a:bodyPr wrap="square" lIns="0" rIns="0" tIns="0" bIns="0" anchor="t">
            <a:spAutoFit/>
          </a:bodyPr>
          <a:lstStyle/>
          <a:p>
            <a:pPr algn="l">
              <a:lnSpc>
                <a:spcPct val="115000"/>
              </a:lnSpc>
              <a:spcBef>
                <a:spcPts val="0"/>
              </a:spcBef>
              <a:spcAft>
                <a:spcPts val="0"/>
              </a:spcAft>
            </a:pPr>
            <a:r>
              <a:rPr sz="1450" b="1">
                <a:solidFill>
                  <a:srgbClr val="141424"/>
                </a:solidFill>
                <a:latin typeface="Segoe UI"/>
              </a:rPr>
              <a:t>It learns our way of working</a:t>
            </a:r>
          </a:p>
        </p:txBody>
      </p:sp>
      <p:sp>
        <p:nvSpPr>
          <p:cNvPr id="20" name="TextBox 19"/>
          <p:cNvSpPr txBox="1"/>
          <p:nvPr/>
        </p:nvSpPr>
        <p:spPr>
          <a:xfrm>
            <a:off x="1069848" y="5230368"/>
            <a:ext cx="2697479" cy="685800"/>
          </a:xfrm>
          <a:prstGeom prst="rect">
            <a:avLst/>
          </a:prstGeom>
          <a:noFill/>
        </p:spPr>
        <p:txBody>
          <a:bodyPr wrap="square" lIns="0" rIns="0" tIns="0" bIns="0" anchor="t">
            <a:spAutoFit/>
          </a:bodyPr>
          <a:lstStyle/>
          <a:p>
            <a:pPr algn="l">
              <a:lnSpc>
                <a:spcPct val="130000"/>
              </a:lnSpc>
              <a:spcBef>
                <a:spcPts val="0"/>
              </a:spcBef>
              <a:spcAft>
                <a:spcPts val="0"/>
              </a:spcAft>
            </a:pPr>
            <a:r>
              <a:rPr sz="1100" b="0">
                <a:solidFill>
                  <a:srgbClr val="3C3C52"/>
                </a:solidFill>
                <a:latin typeface="Segoe UI"/>
              </a:rPr>
              <a:t>Skills carry our conventions and internal libraries; Python tools cover what no general assistant would ever ship.</a:t>
            </a:r>
          </a:p>
        </p:txBody>
      </p:sp>
      <p:sp>
        <p:nvSpPr>
          <p:cNvPr id="21" name="Rounded Rectangle 20"/>
          <p:cNvSpPr/>
          <p:nvPr/>
        </p:nvSpPr>
        <p:spPr>
          <a:xfrm>
            <a:off x="4425696" y="4270248"/>
            <a:ext cx="3246120" cy="1645920"/>
          </a:xfrm>
          <a:prstGeom prst="roundRect">
            <a:avLst/>
          </a:prstGeom>
          <a:solidFill>
            <a:srgbClr val="F5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718304" y="4526280"/>
            <a:ext cx="320040" cy="4572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18304" y="4727448"/>
            <a:ext cx="2660903" cy="457200"/>
          </a:xfrm>
          <a:prstGeom prst="rect">
            <a:avLst/>
          </a:prstGeom>
          <a:noFill/>
        </p:spPr>
        <p:txBody>
          <a:bodyPr wrap="square" lIns="0" rIns="0" tIns="0" bIns="0" anchor="t">
            <a:spAutoFit/>
          </a:bodyPr>
          <a:lstStyle/>
          <a:p>
            <a:pPr algn="l">
              <a:lnSpc>
                <a:spcPct val="115000"/>
              </a:lnSpc>
              <a:spcBef>
                <a:spcPts val="0"/>
              </a:spcBef>
              <a:spcAft>
                <a:spcPts val="0"/>
              </a:spcAft>
            </a:pPr>
            <a:r>
              <a:rPr sz="1450" b="1">
                <a:solidFill>
                  <a:srgbClr val="141424"/>
                </a:solidFill>
                <a:latin typeface="Segoe UI"/>
              </a:rPr>
              <a:t>It reaches past engineering</a:t>
            </a:r>
          </a:p>
        </p:txBody>
      </p:sp>
      <p:sp>
        <p:nvSpPr>
          <p:cNvPr id="24" name="TextBox 23"/>
          <p:cNvSpPr txBox="1"/>
          <p:nvPr/>
        </p:nvSpPr>
        <p:spPr>
          <a:xfrm>
            <a:off x="4718304" y="5230368"/>
            <a:ext cx="2697479" cy="685800"/>
          </a:xfrm>
          <a:prstGeom prst="rect">
            <a:avLst/>
          </a:prstGeom>
          <a:noFill/>
        </p:spPr>
        <p:txBody>
          <a:bodyPr wrap="square" lIns="0" rIns="0" tIns="0" bIns="0" anchor="t">
            <a:spAutoFit/>
          </a:bodyPr>
          <a:lstStyle/>
          <a:p>
            <a:pPr algn="l">
              <a:lnSpc>
                <a:spcPct val="130000"/>
              </a:lnSpc>
              <a:spcBef>
                <a:spcPts val="0"/>
              </a:spcBef>
              <a:spcAft>
                <a:spcPts val="0"/>
              </a:spcAft>
            </a:pPr>
            <a:r>
              <a:rPr sz="1100" b="0">
                <a:solidFill>
                  <a:srgbClr val="3C3C52"/>
                </a:solidFill>
                <a:latin typeface="Segoe UI"/>
              </a:rPr>
              <a:t>Spreadsheet investigation and mailbox search put the same assistant in front of people who never open an editor.</a:t>
            </a:r>
          </a:p>
        </p:txBody>
      </p:sp>
      <p:sp>
        <p:nvSpPr>
          <p:cNvPr id="25" name="Rounded Rectangle 24"/>
          <p:cNvSpPr/>
          <p:nvPr/>
        </p:nvSpPr>
        <p:spPr>
          <a:xfrm>
            <a:off x="8074152" y="4270248"/>
            <a:ext cx="3246120" cy="1645920"/>
          </a:xfrm>
          <a:prstGeom prst="roundRect">
            <a:avLst/>
          </a:prstGeom>
          <a:solidFill>
            <a:srgbClr val="F5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66760" y="4526280"/>
            <a:ext cx="320040" cy="4572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66760" y="4727448"/>
            <a:ext cx="2660903" cy="457200"/>
          </a:xfrm>
          <a:prstGeom prst="rect">
            <a:avLst/>
          </a:prstGeom>
          <a:noFill/>
        </p:spPr>
        <p:txBody>
          <a:bodyPr wrap="square" lIns="0" rIns="0" tIns="0" bIns="0" anchor="t">
            <a:spAutoFit/>
          </a:bodyPr>
          <a:lstStyle/>
          <a:p>
            <a:pPr algn="l">
              <a:lnSpc>
                <a:spcPct val="115000"/>
              </a:lnSpc>
              <a:spcBef>
                <a:spcPts val="0"/>
              </a:spcBef>
              <a:spcAft>
                <a:spcPts val="0"/>
              </a:spcAft>
            </a:pPr>
            <a:r>
              <a:rPr sz="1450" b="1">
                <a:solidFill>
                  <a:srgbClr val="141424"/>
                </a:solidFill>
                <a:latin typeface="Segoe UI"/>
              </a:rPr>
              <a:t>We can change it ourselves</a:t>
            </a:r>
          </a:p>
        </p:txBody>
      </p:sp>
      <p:sp>
        <p:nvSpPr>
          <p:cNvPr id="28" name="TextBox 27"/>
          <p:cNvSpPr txBox="1"/>
          <p:nvPr/>
        </p:nvSpPr>
        <p:spPr>
          <a:xfrm>
            <a:off x="8366760" y="5230368"/>
            <a:ext cx="2697479" cy="685800"/>
          </a:xfrm>
          <a:prstGeom prst="rect">
            <a:avLst/>
          </a:prstGeom>
          <a:noFill/>
        </p:spPr>
        <p:txBody>
          <a:bodyPr wrap="square" lIns="0" rIns="0" tIns="0" bIns="0" anchor="t">
            <a:spAutoFit/>
          </a:bodyPr>
          <a:lstStyle/>
          <a:p>
            <a:pPr algn="l">
              <a:lnSpc>
                <a:spcPct val="130000"/>
              </a:lnSpc>
              <a:spcBef>
                <a:spcPts val="0"/>
              </a:spcBef>
              <a:spcAft>
                <a:spcPts val="0"/>
              </a:spcAft>
            </a:pPr>
            <a:r>
              <a:rPr sz="1100" b="0">
                <a:solidFill>
                  <a:srgbClr val="3C3C52"/>
                </a:solidFill>
                <a:latin typeface="Segoe UI"/>
              </a:rPr>
              <a:t>MIT licensed, small on purpose, and maintained — with no vendor to petition and no archived repository to fork.</a:t>
            </a:r>
          </a:p>
        </p:txBody>
      </p:sp>
      <p:sp>
        <p:nvSpPr>
          <p:cNvPr id="29" name="TextBox 28"/>
          <p:cNvSpPr txBox="1"/>
          <p:nvPr/>
        </p:nvSpPr>
        <p:spPr>
          <a:xfrm>
            <a:off x="777240" y="6455664"/>
            <a:ext cx="3657600" cy="274320"/>
          </a:xfrm>
          <a:prstGeom prst="rect">
            <a:avLst/>
          </a:prstGeom>
          <a:noFill/>
        </p:spPr>
        <p:txBody>
          <a:bodyPr wrap="square" lIns="0" rIns="0" tIns="0" bIns="0" anchor="t">
            <a:spAutoFit/>
          </a:bodyPr>
          <a:lstStyle/>
          <a:p>
            <a:pPr algn="l">
              <a:spcBef>
                <a:spcPts val="0"/>
              </a:spcBef>
              <a:spcAft>
                <a:spcPts val="0"/>
              </a:spcAft>
            </a:pPr>
            <a:r>
              <a:rPr sz="1000" b="0">
                <a:solidFill>
                  <a:srgbClr val="6E6E88"/>
                </a:solidFill>
                <a:latin typeface="Segoe UI"/>
              </a:rPr>
              <a:t>Light Code</a:t>
            </a:r>
          </a:p>
        </p:txBody>
      </p:sp>
      <p:sp>
        <p:nvSpPr>
          <p:cNvPr id="30" name="TextBox 29"/>
          <p:cNvSpPr txBox="1"/>
          <p:nvPr/>
        </p:nvSpPr>
        <p:spPr>
          <a:xfrm>
            <a:off x="10500055" y="6455664"/>
            <a:ext cx="914400" cy="274320"/>
          </a:xfrm>
          <a:prstGeom prst="rect">
            <a:avLst/>
          </a:prstGeom>
          <a:noFill/>
        </p:spPr>
        <p:txBody>
          <a:bodyPr wrap="square" lIns="0" rIns="0" tIns="0" bIns="0" anchor="t">
            <a:spAutoFit/>
          </a:bodyPr>
          <a:lstStyle/>
          <a:p>
            <a:pPr algn="r">
              <a:spcBef>
                <a:spcPts val="0"/>
              </a:spcBef>
              <a:spcAft>
                <a:spcPts val="0"/>
              </a:spcAft>
            </a:pPr>
            <a:r>
              <a:rPr sz="1000" b="0">
                <a:solidFill>
                  <a:srgbClr val="6E6E88"/>
                </a:solidFill>
                <a:latin typeface="Segoe U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gradFill rotWithShape="1">
          <a:gsLst>
            <a:gs pos="0">
              <a:srgbClr val="2A228C"/>
            </a:gs>
            <a:gs pos="100000">
              <a:srgbClr val="7B3CC4"/>
            </a:gs>
          </a:gsLst>
          <a:lin scaled="0" ang="18900000"/>
        </a:gradFill>
        <a:effectLst/>
      </p:bgPr>
    </p:bg>
    <p:spTree>
      <p:nvGrpSpPr>
        <p:cNvPr id="1" name=""/>
        <p:cNvGrpSpPr/>
        <p:nvPr/>
      </p:nvGrpSpPr>
      <p:grpSpPr/>
      <p:sp>
        <p:nvSpPr>
          <p:cNvPr id="2" name="Rectangle 1"/>
          <p:cNvSpPr/>
          <p:nvPr/>
        </p:nvSpPr>
        <p:spPr>
          <a:xfrm>
            <a:off x="777240" y="566928"/>
            <a:ext cx="566928" cy="68580"/>
          </a:xfrm>
          <a:prstGeom prst="rect">
            <a:avLst/>
          </a:prstGeom>
          <a:solidFill>
            <a:srgbClr val="BA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86384"/>
            <a:ext cx="9692640" cy="365760"/>
          </a:xfrm>
          <a:prstGeom prst="rect">
            <a:avLst/>
          </a:prstGeom>
          <a:noFill/>
        </p:spPr>
        <p:txBody>
          <a:bodyPr wrap="square" lIns="0" rIns="0" tIns="0" bIns="0" anchor="t">
            <a:spAutoFit/>
          </a:bodyPr>
          <a:lstStyle/>
          <a:p>
            <a:pPr algn="l">
              <a:spcBef>
                <a:spcPts val="0"/>
              </a:spcBef>
              <a:spcAft>
                <a:spcPts val="0"/>
              </a:spcAft>
            </a:pPr>
            <a:r>
              <a:rPr sz="1250" b="1">
                <a:solidFill>
                  <a:srgbClr val="BAF5FD"/>
                </a:solidFill>
                <a:latin typeface="Segoe UI"/>
              </a:rPr>
              <a:t>NEXT</a:t>
            </a:r>
          </a:p>
        </p:txBody>
      </p:sp>
      <p:sp>
        <p:nvSpPr>
          <p:cNvPr id="4" name="TextBox 3"/>
          <p:cNvSpPr txBox="1"/>
          <p:nvPr/>
        </p:nvSpPr>
        <p:spPr>
          <a:xfrm>
            <a:off x="777240" y="1188720"/>
            <a:ext cx="9692640" cy="822960"/>
          </a:xfrm>
          <a:prstGeom prst="rect">
            <a:avLst/>
          </a:prstGeom>
          <a:noFill/>
        </p:spPr>
        <p:txBody>
          <a:bodyPr wrap="square" lIns="0" rIns="0" tIns="0" bIns="0" anchor="t">
            <a:spAutoFit/>
          </a:bodyPr>
          <a:lstStyle/>
          <a:p>
            <a:pPr algn="l">
              <a:spcBef>
                <a:spcPts val="0"/>
              </a:spcBef>
              <a:spcAft>
                <a:spcPts val="0"/>
              </a:spcAft>
            </a:pPr>
            <a:r>
              <a:rPr sz="3300" b="1">
                <a:solidFill>
                  <a:srgbClr val="FFFFFF"/>
                </a:solidFill>
                <a:latin typeface="Segoe UI"/>
              </a:rPr>
              <a:t>Trying it takes about five minutes</a:t>
            </a:r>
          </a:p>
        </p:txBody>
      </p:sp>
      <p:sp>
        <p:nvSpPr>
          <p:cNvPr id="5" name="TextBox 4"/>
          <p:cNvSpPr txBox="1"/>
          <p:nvPr/>
        </p:nvSpPr>
        <p:spPr>
          <a:xfrm>
            <a:off x="777240" y="2788920"/>
            <a:ext cx="914400" cy="822960"/>
          </a:xfrm>
          <a:prstGeom prst="rect">
            <a:avLst/>
          </a:prstGeom>
          <a:noFill/>
        </p:spPr>
        <p:txBody>
          <a:bodyPr wrap="square" lIns="0" rIns="0" tIns="0" bIns="0" anchor="t">
            <a:spAutoFit/>
          </a:bodyPr>
          <a:lstStyle/>
          <a:p>
            <a:pPr algn="l">
              <a:spcBef>
                <a:spcPts val="0"/>
              </a:spcBef>
              <a:spcAft>
                <a:spcPts val="0"/>
              </a:spcAft>
            </a:pPr>
            <a:r>
              <a:rPr sz="4600" b="1">
                <a:solidFill>
                  <a:srgbClr val="BAF5FD"/>
                </a:solidFill>
                <a:latin typeface="Segoe UI"/>
              </a:rPr>
              <a:t>1</a:t>
            </a:r>
          </a:p>
        </p:txBody>
      </p:sp>
      <p:sp>
        <p:nvSpPr>
          <p:cNvPr id="6" name="TextBox 5"/>
          <p:cNvSpPr txBox="1"/>
          <p:nvPr/>
        </p:nvSpPr>
        <p:spPr>
          <a:xfrm>
            <a:off x="777240" y="3584448"/>
            <a:ext cx="2926080" cy="457200"/>
          </a:xfrm>
          <a:prstGeom prst="rect">
            <a:avLst/>
          </a:prstGeom>
          <a:noFill/>
        </p:spPr>
        <p:txBody>
          <a:bodyPr wrap="square" lIns="0" rIns="0" tIns="0" bIns="0" anchor="t">
            <a:spAutoFit/>
          </a:bodyPr>
          <a:lstStyle/>
          <a:p>
            <a:pPr algn="l">
              <a:spcBef>
                <a:spcPts val="0"/>
              </a:spcBef>
              <a:spcAft>
                <a:spcPts val="0"/>
              </a:spcAft>
            </a:pPr>
            <a:r>
              <a:rPr sz="1900" b="1">
                <a:solidFill>
                  <a:srgbClr val="FFFFFF"/>
                </a:solidFill>
                <a:latin typeface="Segoe UI"/>
              </a:rPr>
              <a:t>Install</a:t>
            </a:r>
          </a:p>
        </p:txBody>
      </p:sp>
      <p:sp>
        <p:nvSpPr>
          <p:cNvPr id="7" name="TextBox 6"/>
          <p:cNvSpPr txBox="1"/>
          <p:nvPr/>
        </p:nvSpPr>
        <p:spPr>
          <a:xfrm>
            <a:off x="777240" y="4096512"/>
            <a:ext cx="3017520" cy="1097280"/>
          </a:xfrm>
          <a:prstGeom prst="rect">
            <a:avLst/>
          </a:prstGeom>
          <a:noFill/>
        </p:spPr>
        <p:txBody>
          <a:bodyPr wrap="square" lIns="0" rIns="0" tIns="0" bIns="0" anchor="t">
            <a:spAutoFit/>
          </a:bodyPr>
          <a:lstStyle/>
          <a:p>
            <a:pPr algn="l">
              <a:lnSpc>
                <a:spcPct val="135000"/>
              </a:lnSpc>
              <a:spcBef>
                <a:spcPts val="0"/>
              </a:spcBef>
              <a:spcAft>
                <a:spcPts val="0"/>
              </a:spcAft>
            </a:pPr>
            <a:r>
              <a:rPr sz="1300" b="0">
                <a:solidFill>
                  <a:srgbClr val="C8C5E8"/>
                </a:solidFill>
                <a:latin typeface="Segoe UI"/>
              </a:rPr>
              <a:t>Add the extension in VS Code and click the Light Code icon in the Activity Bar.</a:t>
            </a:r>
          </a:p>
        </p:txBody>
      </p:sp>
      <p:sp>
        <p:nvSpPr>
          <p:cNvPr id="8" name="TextBox 7"/>
          <p:cNvSpPr txBox="1"/>
          <p:nvPr/>
        </p:nvSpPr>
        <p:spPr>
          <a:xfrm>
            <a:off x="4297680" y="2788920"/>
            <a:ext cx="914400" cy="822960"/>
          </a:xfrm>
          <a:prstGeom prst="rect">
            <a:avLst/>
          </a:prstGeom>
          <a:noFill/>
        </p:spPr>
        <p:txBody>
          <a:bodyPr wrap="square" lIns="0" rIns="0" tIns="0" bIns="0" anchor="t">
            <a:spAutoFit/>
          </a:bodyPr>
          <a:lstStyle/>
          <a:p>
            <a:pPr algn="l">
              <a:spcBef>
                <a:spcPts val="0"/>
              </a:spcBef>
              <a:spcAft>
                <a:spcPts val="0"/>
              </a:spcAft>
            </a:pPr>
            <a:r>
              <a:rPr sz="4600" b="1">
                <a:solidFill>
                  <a:srgbClr val="BAF5FD"/>
                </a:solidFill>
                <a:latin typeface="Segoe UI"/>
              </a:rPr>
              <a:t>2</a:t>
            </a:r>
          </a:p>
        </p:txBody>
      </p:sp>
      <p:sp>
        <p:nvSpPr>
          <p:cNvPr id="9" name="TextBox 8"/>
          <p:cNvSpPr txBox="1"/>
          <p:nvPr/>
        </p:nvSpPr>
        <p:spPr>
          <a:xfrm>
            <a:off x="4297680" y="3584448"/>
            <a:ext cx="2926080" cy="457200"/>
          </a:xfrm>
          <a:prstGeom prst="rect">
            <a:avLst/>
          </a:prstGeom>
          <a:noFill/>
        </p:spPr>
        <p:txBody>
          <a:bodyPr wrap="square" lIns="0" rIns="0" tIns="0" bIns="0" anchor="t">
            <a:spAutoFit/>
          </a:bodyPr>
          <a:lstStyle/>
          <a:p>
            <a:pPr algn="l">
              <a:spcBef>
                <a:spcPts val="0"/>
              </a:spcBef>
              <a:spcAft>
                <a:spcPts val="0"/>
              </a:spcAft>
            </a:pPr>
            <a:r>
              <a:rPr sz="1900" b="1">
                <a:solidFill>
                  <a:srgbClr val="FFFFFF"/>
                </a:solidFill>
                <a:latin typeface="Segoe UI"/>
              </a:rPr>
              <a:t>Point it at a model</a:t>
            </a:r>
          </a:p>
        </p:txBody>
      </p:sp>
      <p:sp>
        <p:nvSpPr>
          <p:cNvPr id="10" name="TextBox 9"/>
          <p:cNvSpPr txBox="1"/>
          <p:nvPr/>
        </p:nvSpPr>
        <p:spPr>
          <a:xfrm>
            <a:off x="4297680" y="4096512"/>
            <a:ext cx="3017520" cy="1097280"/>
          </a:xfrm>
          <a:prstGeom prst="rect">
            <a:avLst/>
          </a:prstGeom>
          <a:noFill/>
        </p:spPr>
        <p:txBody>
          <a:bodyPr wrap="square" lIns="0" rIns="0" tIns="0" bIns="0" anchor="t">
            <a:spAutoFit/>
          </a:bodyPr>
          <a:lstStyle/>
          <a:p>
            <a:pPr algn="l">
              <a:lnSpc>
                <a:spcPct val="135000"/>
              </a:lnSpc>
              <a:spcBef>
                <a:spcPts val="0"/>
              </a:spcBef>
              <a:spcAft>
                <a:spcPts val="0"/>
              </a:spcAft>
            </a:pPr>
            <a:r>
              <a:rPr sz="1300" b="0">
                <a:solidFill>
                  <a:srgbClr val="C8C5E8"/>
                </a:solidFill>
                <a:latin typeface="Segoe UI"/>
              </a:rPr>
              <a:t>Create a profile with the gateway URL and your credentials, then press Test Connection.</a:t>
            </a:r>
          </a:p>
        </p:txBody>
      </p:sp>
      <p:sp>
        <p:nvSpPr>
          <p:cNvPr id="11" name="TextBox 10"/>
          <p:cNvSpPr txBox="1"/>
          <p:nvPr/>
        </p:nvSpPr>
        <p:spPr>
          <a:xfrm>
            <a:off x="7818120" y="2788920"/>
            <a:ext cx="914400" cy="822960"/>
          </a:xfrm>
          <a:prstGeom prst="rect">
            <a:avLst/>
          </a:prstGeom>
          <a:noFill/>
        </p:spPr>
        <p:txBody>
          <a:bodyPr wrap="square" lIns="0" rIns="0" tIns="0" bIns="0" anchor="t">
            <a:spAutoFit/>
          </a:bodyPr>
          <a:lstStyle/>
          <a:p>
            <a:pPr algn="l">
              <a:spcBef>
                <a:spcPts val="0"/>
              </a:spcBef>
              <a:spcAft>
                <a:spcPts val="0"/>
              </a:spcAft>
            </a:pPr>
            <a:r>
              <a:rPr sz="4600" b="1">
                <a:solidFill>
                  <a:srgbClr val="BAF5FD"/>
                </a:solidFill>
                <a:latin typeface="Segoe UI"/>
              </a:rPr>
              <a:t>3</a:t>
            </a:r>
          </a:p>
        </p:txBody>
      </p:sp>
      <p:sp>
        <p:nvSpPr>
          <p:cNvPr id="12" name="TextBox 11"/>
          <p:cNvSpPr txBox="1"/>
          <p:nvPr/>
        </p:nvSpPr>
        <p:spPr>
          <a:xfrm>
            <a:off x="7818120" y="3584448"/>
            <a:ext cx="2926080" cy="457200"/>
          </a:xfrm>
          <a:prstGeom prst="rect">
            <a:avLst/>
          </a:prstGeom>
          <a:noFill/>
        </p:spPr>
        <p:txBody>
          <a:bodyPr wrap="square" lIns="0" rIns="0" tIns="0" bIns="0" anchor="t">
            <a:spAutoFit/>
          </a:bodyPr>
          <a:lstStyle/>
          <a:p>
            <a:pPr algn="l">
              <a:spcBef>
                <a:spcPts val="0"/>
              </a:spcBef>
              <a:spcAft>
                <a:spcPts val="0"/>
              </a:spcAft>
            </a:pPr>
            <a:r>
              <a:rPr sz="1900" b="1">
                <a:solidFill>
                  <a:srgbClr val="FFFFFF"/>
                </a:solidFill>
                <a:latin typeface="Segoe UI"/>
              </a:rPr>
              <a:t>Ask it something</a:t>
            </a:r>
          </a:p>
        </p:txBody>
      </p:sp>
      <p:sp>
        <p:nvSpPr>
          <p:cNvPr id="13" name="TextBox 12"/>
          <p:cNvSpPr txBox="1"/>
          <p:nvPr/>
        </p:nvSpPr>
        <p:spPr>
          <a:xfrm>
            <a:off x="7818120" y="4096512"/>
            <a:ext cx="3017520" cy="1097280"/>
          </a:xfrm>
          <a:prstGeom prst="rect">
            <a:avLst/>
          </a:prstGeom>
          <a:noFill/>
        </p:spPr>
        <p:txBody>
          <a:bodyPr wrap="square" lIns="0" rIns="0" tIns="0" bIns="0" anchor="t">
            <a:spAutoFit/>
          </a:bodyPr>
          <a:lstStyle/>
          <a:p>
            <a:pPr algn="l">
              <a:lnSpc>
                <a:spcPct val="135000"/>
              </a:lnSpc>
              <a:spcBef>
                <a:spcPts val="0"/>
              </a:spcBef>
              <a:spcAft>
                <a:spcPts val="0"/>
              </a:spcAft>
            </a:pPr>
            <a:r>
              <a:rPr sz="1300" b="0">
                <a:solidFill>
                  <a:srgbClr val="C8C5E8"/>
                </a:solidFill>
                <a:latin typeface="Segoe UI"/>
              </a:rPr>
              <a:t>Everything else stays off until you turn it on — auto-approval, indexing, Office access, all of it.</a:t>
            </a:r>
          </a:p>
        </p:txBody>
      </p:sp>
      <p:sp>
        <p:nvSpPr>
          <p:cNvPr id="14" name="Rectangle 13"/>
          <p:cNvSpPr/>
          <p:nvPr/>
        </p:nvSpPr>
        <p:spPr>
          <a:xfrm>
            <a:off x="777240" y="5532120"/>
            <a:ext cx="10637215" cy="36576"/>
          </a:xfrm>
          <a:prstGeom prst="rect">
            <a:avLst/>
          </a:prstGeom>
          <a:solidFill>
            <a:srgbClr val="6E5B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760720"/>
            <a:ext cx="10637215" cy="457200"/>
          </a:xfrm>
          <a:prstGeom prst="rect">
            <a:avLst/>
          </a:prstGeom>
          <a:noFill/>
        </p:spPr>
        <p:txBody>
          <a:bodyPr wrap="square" lIns="0" rIns="0" tIns="0" bIns="0" anchor="t">
            <a:spAutoFit/>
          </a:bodyPr>
          <a:lstStyle/>
          <a:p>
            <a:pPr algn="l">
              <a:spcBef>
                <a:spcPts val="0"/>
              </a:spcBef>
              <a:spcAft>
                <a:spcPts val="0"/>
              </a:spcAft>
            </a:pPr>
            <a:r>
              <a:rPr sz="1500" b="1">
                <a:solidFill>
                  <a:srgbClr val="BAF5FD"/>
                </a:solidFill>
                <a:latin typeface="Segoe UI"/>
              </a:rPr>
              <a:t>Open source and MIT licensed — read every line before you run it.</a:t>
            </a:r>
          </a:p>
        </p:txBody>
      </p:sp>
      <p:sp>
        <p:nvSpPr>
          <p:cNvPr id="16" name="TextBox 15"/>
          <p:cNvSpPr txBox="1"/>
          <p:nvPr/>
        </p:nvSpPr>
        <p:spPr>
          <a:xfrm>
            <a:off x="777240" y="6455664"/>
            <a:ext cx="3657600" cy="274320"/>
          </a:xfrm>
          <a:prstGeom prst="rect">
            <a:avLst/>
          </a:prstGeom>
          <a:noFill/>
        </p:spPr>
        <p:txBody>
          <a:bodyPr wrap="square" lIns="0" rIns="0" tIns="0" bIns="0" anchor="t">
            <a:spAutoFit/>
          </a:bodyPr>
          <a:lstStyle/>
          <a:p>
            <a:pPr algn="l">
              <a:spcBef>
                <a:spcPts val="0"/>
              </a:spcBef>
              <a:spcAft>
                <a:spcPts val="0"/>
              </a:spcAft>
            </a:pPr>
            <a:r>
              <a:rPr sz="1000" b="0">
                <a:solidFill>
                  <a:srgbClr val="C8C5E8"/>
                </a:solidFill>
                <a:latin typeface="Segoe UI"/>
              </a:rPr>
              <a:t>Light Code</a:t>
            </a:r>
          </a:p>
        </p:txBody>
      </p:sp>
      <p:sp>
        <p:nvSpPr>
          <p:cNvPr id="17" name="TextBox 16"/>
          <p:cNvSpPr txBox="1"/>
          <p:nvPr/>
        </p:nvSpPr>
        <p:spPr>
          <a:xfrm>
            <a:off x="10500055" y="6455664"/>
            <a:ext cx="914400" cy="274320"/>
          </a:xfrm>
          <a:prstGeom prst="rect">
            <a:avLst/>
          </a:prstGeom>
          <a:noFill/>
        </p:spPr>
        <p:txBody>
          <a:bodyPr wrap="square" lIns="0" rIns="0" tIns="0" bIns="0" anchor="t">
            <a:spAutoFit/>
          </a:bodyPr>
          <a:lstStyle/>
          <a:p>
            <a:pPr algn="r">
              <a:spcBef>
                <a:spcPts val="0"/>
              </a:spcBef>
              <a:spcAft>
                <a:spcPts val="0"/>
              </a:spcAft>
            </a:pPr>
            <a:r>
              <a:rPr sz="1000" b="0">
                <a:solidFill>
                  <a:srgbClr val="C8C5E8"/>
                </a:solidFill>
                <a:latin typeface="Segoe UI"/>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